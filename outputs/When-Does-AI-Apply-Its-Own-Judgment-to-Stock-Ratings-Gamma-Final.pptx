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050230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When Does AI Apply Its Own Judgment to Stock Ratings?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61475" y="2428478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S&amp;P 500 Recommendation Experiment — Pilot Findings and Protocol Correction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61475" y="3334048"/>
            <a:ext cx="2929360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question: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Does an AI merely echo direct analyst ratings, or does its classification change systematically when its permitted evidence changes?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35324" y="3334048"/>
            <a:ext cx="2929360" cy="1133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v1.2.0 live pilot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completed 24 July 2026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snapshot: 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gpt-5.4-2026-03-05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035324" y="4659015"/>
            <a:ext cx="2929360" cy="956866"/>
          </a:xfrm>
          <a:prstGeom prst="roundRect">
            <a:avLst>
              <a:gd name="adj" fmla="val 7882"/>
            </a:avLst>
          </a:prstGeom>
          <a:solidFill>
            <a:srgbClr val="DADBF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806" y="4929485"/>
            <a:ext cx="224427" cy="1794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18716" y="4857353"/>
            <a:ext cx="216648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classification — not investment advice.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7643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Four Controlled AI Environments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442740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Held constant across all conditions: model, 12-month SPY-relative target, five-level rating scale, and output schema. Adjacent-condition differences isolate the effect of each added evidence layer.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71787"/>
            <a:ext cx="5366112" cy="1625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24033" y="2178050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41156" y="2709366"/>
            <a:ext cx="500675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— Memory Only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41156" y="3042245"/>
            <a:ext cx="500675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identity and sector; no supplied dated evidence; no web access.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4108" y="2071787"/>
            <a:ext cx="5366112" cy="1625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26666" y="2178050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343789" y="2709366"/>
            <a:ext cx="500675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 — Price History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6343789" y="3042245"/>
            <a:ext cx="500675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 A plus up to 24 monthly adjusted-price and volume observations; no web access.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833912"/>
            <a:ext cx="5366112" cy="1625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24033" y="3940175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41156" y="4471491"/>
            <a:ext cx="500675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 — Quantitative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841156" y="4804370"/>
            <a:ext cx="500675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 B plus calculated technical, market-relative, sector-relative, and compact fundamental data; no web access.</a:t>
            </a:r>
            <a:endParaRPr lang="en-US" sz="12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4108" y="3833912"/>
            <a:ext cx="5366112" cy="1625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26666" y="3940175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6343789" y="4471491"/>
            <a:ext cx="500675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 — Current Web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6343789" y="4804370"/>
            <a:ext cx="500675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exact same packet as C plus web search through the cutoff date.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61475" y="5613102"/>
            <a:ext cx="10868745" cy="577255"/>
          </a:xfrm>
          <a:prstGeom prst="roundRect">
            <a:avLst>
              <a:gd name="adj" fmla="val 11690"/>
            </a:avLst>
          </a:prstGeom>
          <a:solidFill>
            <a:srgbClr val="DADBF1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106" y="5831979"/>
            <a:ext cx="200814" cy="16063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3551" y="5789712"/>
            <a:ext cx="1079562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design principle: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Adjacent-condition differences isolate the effect of each added evidence layer.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852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Was Built and How It Is Controlled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2466777"/>
            <a:ext cx="6927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Pipeline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070" y="2871391"/>
            <a:ext cx="5888287" cy="22096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38743" y="4544591"/>
            <a:ext cx="888126" cy="171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Call Model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819461" y="4459046"/>
            <a:ext cx="888126" cy="34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Packets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706262" y="4459046"/>
            <a:ext cx="888126" cy="34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Compute Features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593063" y="4544591"/>
            <a:ext cx="888126" cy="171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Acquire Data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455532" y="4459046"/>
            <a:ext cx="888126" cy="34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Freeze Universe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987207" y="1370211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Safeguards Implemented in v1.3.0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987207" y="1757759"/>
            <a:ext cx="3549264" cy="3376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11 GICS sectors resolved from Yahoo metadata and mapped to sector ETFs.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acquisition gate applies to every paid run.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post-cutoff or malformed evidence accepted.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enabled only for Condition D.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and D packet identity is hashed and checked.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failure payloads and usage are retained when available.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analyst rating baselines remain outside model packets.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987207" y="5257403"/>
            <a:ext cx="3549264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v1.2.0 status: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Completed pilot; results are immutable and final.</a:t>
            </a:r>
            <a:endParaRPr lang="en-US" sz="12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v1.3.0 status: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Hardened code ready for the next run; not yet executed.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8027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v1.2 Six-Stock Pilot: Main Result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111647"/>
            <a:ext cx="10868745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Pilot: AAPL, JNJ, JPM, KO, MU, NEE × 4 conditions × 3 repetitions =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72 final cells.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Two original D responses were truncated; only those exact prompts were retried. Final dataset: 72 valid cells after 74 API attempts.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555651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BUY / HOLD Counts and Mean Confidence by Condition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67396"/>
            <a:ext cx="7064595" cy="39577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1475" y="5914926"/>
            <a:ext cx="10868745" cy="375047"/>
          </a:xfrm>
          <a:prstGeom prst="roundRect">
            <a:avLst>
              <a:gd name="adj" fmla="val 13759"/>
            </a:avLst>
          </a:prstGeom>
          <a:solidFill>
            <a:srgbClr val="DADBF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305" y="6075164"/>
            <a:ext cx="153488" cy="1228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60622" y="6025356"/>
            <a:ext cx="1095635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largest shift occurred when structured quantitative evidence was introduced (A→B→C), not when web search was added (C→D).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2610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 Access and Direct Analyst-Rating Comparison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565970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Incremental Web Effect (C vs. D)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61475" y="1953518"/>
            <a:ext cx="523842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versus D changed in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 of 18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matched repetitions — 5 BUY→HOLD and 4 HOLD→BUY. Mean signed ordinal change =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−0.0556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Web access did not simply increase bullishness.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61475" y="2803227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Direct Rating Baselines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61475" y="3190776"/>
            <a:ext cx="523842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rating baselines were withheld from all prompts. Yahoo count-normalized baseline =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BUY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all six stocks. Yahoo portal label =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BUY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five stocks and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 BUY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MU.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98149" y="1565970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Exact Matches with Analyst Baselines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298149" y="1953518"/>
            <a:ext cx="523842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final assessment reported analyst ratings as used; one D assessment reported analyst information encountered but not used.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1475" y="4180384"/>
            <a:ext cx="5366112" cy="1224161"/>
          </a:xfrm>
          <a:prstGeom prst="roundRect">
            <a:avLst>
              <a:gd name="adj" fmla="val 551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8456" y="4347369"/>
            <a:ext cx="50321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Condition C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8456" y="4680248"/>
            <a:ext cx="5032150" cy="557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 baseline: </a:t>
            </a:r>
            <a:pPr algn="l" indent="0" marL="0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72.2%</a:t>
            </a:r>
            <a:endParaRPr lang="en-US" sz="12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 baseline: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66.7%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64108" y="4180384"/>
            <a:ext cx="5366112" cy="1224161"/>
          </a:xfrm>
          <a:prstGeom prst="roundRect">
            <a:avLst>
              <a:gd name="adj" fmla="val 551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1089" y="4347369"/>
            <a:ext cx="50321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Condition 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31089" y="4680248"/>
            <a:ext cx="5032150" cy="557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 baseline: </a:t>
            </a:r>
            <a:pPr algn="l" indent="0" marL="0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66.7%</a:t>
            </a:r>
            <a:endParaRPr lang="en-US" sz="12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 baseline: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50.0%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1475" y="5558135"/>
            <a:ext cx="10868745" cy="577255"/>
          </a:xfrm>
          <a:prstGeom prst="roundRect">
            <a:avLst>
              <a:gd name="adj" fmla="val 11690"/>
            </a:avLst>
          </a:prstGeom>
          <a:solidFill>
            <a:srgbClr val="DADBF1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106" y="5777012"/>
            <a:ext cx="200814" cy="16063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83551" y="5734745"/>
            <a:ext cx="1079562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classification — not investment advice.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552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the Pilot Can — and Cannot — Show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415355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Observable behavior only, not access to private reasoning.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1999258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Supported by v1.2.0</a:t>
            </a:r>
            <a:endParaRPr lang="en-US" sz="1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5271" y="2445593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4209" y="2437209"/>
            <a:ext cx="467417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Ratings changed when evidence changed.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271" y="3270498"/>
            <a:ext cx="255085" cy="2550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14209" y="3262114"/>
            <a:ext cx="467417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and D differed in both directions.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5271" y="4095403"/>
            <a:ext cx="255085" cy="2550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14209" y="4087019"/>
            <a:ext cx="467417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 sufficient-evidence ratings disagreed with direct analyst baselines.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5271" y="4920307"/>
            <a:ext cx="255085" cy="25509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14209" y="4911923"/>
            <a:ext cx="467417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of 24 stock-condition groups were unanimous; mean modal agreement =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88.9%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6309659" y="1999258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Important Design Caveat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6309659" y="2418060"/>
            <a:ext cx="5226911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v1.2.0 C/D packet included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Yahoo forward P/E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Forward P/E can incorporate analyst forecast earnings. Therefore direct Buy/Hold/Sell baselines were withheld, but zero analyst-derived influence cannot be claimed.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309659" y="3605411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v1.3.0 Protocol Correction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6309659" y="4024213"/>
            <a:ext cx="522691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Forward P/E is removed. Run a corrected six-stock pilot before the full universe.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309659" y="4713585"/>
            <a:ext cx="5226911" cy="1394619"/>
          </a:xfrm>
          <a:prstGeom prst="roundRect">
            <a:avLst>
              <a:gd name="adj" fmla="val 5123"/>
            </a:avLst>
          </a:prstGeom>
          <a:solidFill>
            <a:srgbClr val="FCF2B5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9715" y="4967784"/>
            <a:ext cx="212620" cy="17006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62392" y="4893766"/>
            <a:ext cx="4504121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Interpretation: the current pilot demonstrates information sensitivity and direct-rating disagreement. It does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prove independent internal reasoning or investment skill.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4776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Validation, Cost, and Next Decision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488281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Validation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1760041"/>
            <a:ext cx="5284556" cy="146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 automated tests plus 32 subtests pass.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Credential-free artifact validator reports PASS_WITH_WARNINGS with zero hard failures.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72 final prompts and raw successful responses are present.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and D packets are identical for each stock.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calls: 0 in A/B/C and 107 in D.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audit: 532 items, 0 invalid dates, 0 post-cutoff dates.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official PDF URLs remain flagged for manual trace review.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61475" y="3304084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1475" y="3575844"/>
            <a:ext cx="5284556" cy="86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Recorded v1.2 lower bound = 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$4.486485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usage for two failed original calls is unknown.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State Street snapshot = 504 securities dated 23 July 2026.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Pilot-average planning estimate: approximately 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$126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one full-universe repetition or 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$377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three. Not a budget guarantee.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52014" y="1488281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Next Decision Sequence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52014" y="1770063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52014" y="1966020"/>
            <a:ext cx="5284556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6252014" y="2052836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Approve Feasibility Boundary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52014" y="2324596"/>
            <a:ext cx="5284556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Yahoo's unofficial feasibility boundary and corrected-pilot budget.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52014" y="2658566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52014" y="2854523"/>
            <a:ext cx="5284556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6252014" y="2941340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Run Corrected Pilot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52014" y="3213100"/>
            <a:ext cx="5284556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the v1.3.0 six-stock pilot without forward P/E.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52014" y="3547070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52014" y="3743027"/>
            <a:ext cx="5284556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6252014" y="3829844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Approve Full-Universe Run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52014" y="4101604"/>
            <a:ext cx="5284556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full-universe repetitions, retry headroom, and budget.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52014" y="4435574"/>
            <a:ext cx="245659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52014" y="4631531"/>
            <a:ext cx="5284556" cy="127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6252014" y="4718348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Execute and Evaluate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52014" y="4990108"/>
            <a:ext cx="5284556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all 504 rows and later evaluate a timestamped portfolio prospectively against SPY.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52014" y="5334099"/>
            <a:ext cx="5284556" cy="529233"/>
          </a:xfrm>
          <a:prstGeom prst="roundRect">
            <a:avLst>
              <a:gd name="adj" fmla="val 9750"/>
            </a:avLst>
          </a:prstGeom>
          <a:solidFill>
            <a:srgbClr val="DADBF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4844" y="5500687"/>
            <a:ext cx="153488" cy="122833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651161" y="5436592"/>
            <a:ext cx="476257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pilot is complete, the design limitation is disclosed, and the full paid run remains deliberately stopped. Research classification — not investment advice.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2026-07-24T15:06:20Z</dcterms:created>
  <dcterms:modified xsi:type="dcterms:W3CDTF">2026-07-24T15:06:20Z</dcterms:modified>
</cp:coreProperties>
</file>