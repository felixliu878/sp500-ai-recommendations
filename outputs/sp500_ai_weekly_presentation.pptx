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18795f18fc4b5b" /><Relationship Type="http://schemas.openxmlformats.org/officeDocument/2006/relationships/extended-properties" Target="/docProps/app.xml" Id="Rc0ec1eabf83f409c" /><Relationship Type="http://schemas.openxmlformats.org/officeDocument/2006/relationships/officeDocument" Target="/ppt/presentation.xml" Id="R3d5cc458a15c4d9a" /></Relationships>
</file>

<file path=ppt/presentation.xml><?xml version="1.0" encoding="utf-8"?>
<p:presentation xmlns:p="http://schemas.openxmlformats.org/presentationml/2006/main">
  <p:sldMasterIdLst>
    <p:sldMasterId xmlns:r="http://schemas.openxmlformats.org/officeDocument/2006/relationships" id="2147483648" r:id="R2edd7b9ee8a2454a"/>
  </p:sldMasterIdLst>
  <p:notesMasterIdLst>
    <p:notesMasterId xmlns:r="http://schemas.openxmlformats.org/officeDocument/2006/relationships" r:id="R151fb7c686e9401a"/>
  </p:notesMasterIdLst>
  <p:sldIdLst>
    <p:sldId xmlns:r="http://schemas.openxmlformats.org/officeDocument/2006/relationships" id="256" r:id="Rff5bd831a00d42cd"/>
    <p:sldId xmlns:r="http://schemas.openxmlformats.org/officeDocument/2006/relationships" id="257" r:id="R9914edf6c4474576"/>
    <p:sldId xmlns:r="http://schemas.openxmlformats.org/officeDocument/2006/relationships" id="258" r:id="Rc7374cc9c05f4816"/>
    <p:sldId xmlns:r="http://schemas.openxmlformats.org/officeDocument/2006/relationships" id="259" r:id="Rccdcddd45721462a"/>
    <p:sldId xmlns:r="http://schemas.openxmlformats.org/officeDocument/2006/relationships" id="260" r:id="R868a22a053224ca7"/>
    <p:sldId xmlns:r="http://schemas.openxmlformats.org/officeDocument/2006/relationships" id="261" r:id="R23fa94d994c44dc2"/>
    <p:sldId xmlns:r="http://schemas.openxmlformats.org/officeDocument/2006/relationships" id="262" r:id="Rb02af5ff0bbd4c2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5b62708c724a71" /><Relationship Type="http://schemas.openxmlformats.org/officeDocument/2006/relationships/slideMaster" Target="/ppt/slideMasters/slideMaster1.xml" Id="R2edd7b9ee8a2454a" /><Relationship Type="http://schemas.openxmlformats.org/officeDocument/2006/relationships/notesMaster" Target="/ppt/notesMasters/notesMaster1.xml" Id="R151fb7c686e9401a" /><Relationship Type="http://schemas.openxmlformats.org/officeDocument/2006/relationships/presProps" Target="/ppt/presProps.xml" Id="R7e6a2012b5b74119" /><Relationship Type="http://schemas.openxmlformats.org/officeDocument/2006/relationships/tableStyles" Target="/ppt/tableStyles.xml" Id="R7e1358bcd38a4ebb" /><Relationship Type="http://schemas.openxmlformats.org/officeDocument/2006/relationships/slide" Target="/ppt/slides/slide1.xml" Id="Rff5bd831a00d42cd" /><Relationship Type="http://schemas.openxmlformats.org/officeDocument/2006/relationships/slide" Target="/ppt/slides/slide2.xml" Id="R9914edf6c4474576" /><Relationship Type="http://schemas.openxmlformats.org/officeDocument/2006/relationships/slide" Target="/ppt/slides/slide3.xml" Id="Rc7374cc9c05f4816" /><Relationship Type="http://schemas.openxmlformats.org/officeDocument/2006/relationships/slide" Target="/ppt/slides/slide4.xml" Id="Rccdcddd45721462a" /><Relationship Type="http://schemas.openxmlformats.org/officeDocument/2006/relationships/slide" Target="/ppt/slides/slide5.xml" Id="R868a22a053224ca7" /><Relationship Type="http://schemas.openxmlformats.org/officeDocument/2006/relationships/slide" Target="/ppt/slides/slide6.xml" Id="R23fa94d994c44dc2" /><Relationship Type="http://schemas.openxmlformats.org/officeDocument/2006/relationships/slide" Target="/ppt/slides/slide7.xml" Id="Rb02af5ff0bbd4c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cfc19dfbc248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db28bcff134c2d" /><Relationship Type="http://schemas.openxmlformats.org/officeDocument/2006/relationships/notesMaster" Target="/ppt/notesMasters/notesMaster1.xml" Id="R72b323bf0ab248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5ee158bc69481e" /><Relationship Type="http://schemas.openxmlformats.org/officeDocument/2006/relationships/notesMaster" Target="/ppt/notesMasters/notesMaster1.xml" Id="R975fbd1af1fd4d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22f4bab4fd4f9b" /><Relationship Type="http://schemas.openxmlformats.org/officeDocument/2006/relationships/notesMaster" Target="/ppt/notesMasters/notesMaster1.xml" Id="R05728b171ad849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b20f9c59c745d4" /><Relationship Type="http://schemas.openxmlformats.org/officeDocument/2006/relationships/notesMaster" Target="/ppt/notesMasters/notesMaster1.xml" Id="R718891b6a46747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6316cdef39460e" /><Relationship Type="http://schemas.openxmlformats.org/officeDocument/2006/relationships/notesMaster" Target="/ppt/notesMasters/notesMaster1.xml" Id="R7093319f18834c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53e3d6f52a4c0c" /><Relationship Type="http://schemas.openxmlformats.org/officeDocument/2006/relationships/notesMaster" Target="/ppt/notesMasters/notesMaster1.xml" Id="R6dc63c9ae5af47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9cb2506bca4e79" /><Relationship Type="http://schemas.openxmlformats.org/officeDocument/2006/relationships/notesMaster" Target="/ppt/notesMasters/notesMaster1.xml" Id="R1cbfa9d059224c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 converted our idea into a controlled experiment and a working Python pipeline. The central question is not simply whether an AI says buy or sell. It is when that answer changes, what evidence caused the change, and whether the result is genuinely different from an analyst consensus. I will show the four experimental conditions, what is already working, what the Micron dry run proves, and the two inputs I need before producing real model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every stock, the decision target stays fixed: a five-level classification over twelve months, relative to SPY, as of one frozen date. Only the information set changes. Condition A supplies the company identity, with no dated market data and no web access. Condition B adds twenty-four monthly adjusted prices and volume. Condition C adds locally calculated return, trend, volatility, benchmark, sector, and fundamental fields, but still no web. Condition D adds current web search and captures its sources. The model never receives analyst consensus directly. If web search exposes an analyst view, the model must disclose whether it encountered and used it. This design lets us attribute a rating change to an added information condition instead of changing everything at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has three auditable stages. First, acquisition: the code saves a dated State Street SPY holdings workbook, obtains end-of-day prices, and, when the production key is present, retrieves fundamentals and analyst consensus. Second, assessment: it calculates every feature locally, renders a versioned prompt, uses a strict JSON schema, enables web search only in Condition D, and saves the raw response. Third, comparison: it converts both AI and analyst labels to the same ordinal scale, calculates agreement and condition changes, and preserves the evidence needed for reasoning analysis. Nothing important exists only in a notebook or a chat window; every input and output is written to a run-specific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no-key pilot completed all seventy-two planned records: six stocks, four conditions, and three repetitions. Nine unit tests passed, covering feature calculations, prompt isolation, schema requirements, analyst-score math, and ticker conversion. The audit snapshot contained five hundred four constituent-security holdings after removing cash and a temporary corporate-action receivable, and it is dated July sixteenth. I will not assume that the full API universe has exactly five hundred ticker rows, because multiple share classes affect the count. The manifest will record the actual number. One full repetition is roughly two thousand model calls; three are roughly six thousand. The live recommendations and analyst fields are the only intentionally incomplete pieces.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Micron example is deliberately labeled dry run, not AI. The system retrieved five hundred two trading-day observations. In the prototype feed, Micron's twelve-month adjusted return was approximately six hundred thirty-one percent, about six hundred eleven percentage points above SPY, with annualized sixty-day volatility of about one hundred eight percent. Those unusually large signals are exactly why source validation matters. The fixed test rule produced Hold in A and Strong Buy in B through D, but that is not an investment conclusion. It only proves that different packets reached the correct routes, that the ordinal outputs were stored, and that Condition D did not secretly use web search in the no-key backend. Real Micron ratings begin only after the model and financial-data keys are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study must distinguish four claims that are easy to blur together. First, information sensitivity: we can test whether the same model changes its rating when evidence is added. Second, agreement: consensus counts let us measure whether the AI and analysts reach the same category. Third, independence: exposure flags and retrieved sources provide evidence about whether analyst views entered the response, but self-report alone is not proof. Fourth, performance: only timestamped predictions followed by future returns can test outperformance. Aggregate analyst counts cannot tell us whether the AI used the same reasoning as individual analysts; that would require licensed report-level rationales. Likewise, a backtest created today with today's model risks look-ahead, model-version, and survivorship bias. The defensible portfolio test is prospective.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request is to approve the four-condition protocol and provide the OpenAI and financial-data API keys. I will first run the live six-stock pilot, inspect citations, analyst coverage, and cost, and freeze the configuration. We then need one cost decision: one full-universe repetition, at roughly two thousand calls, or three repetitions, at roughly six thousand calls. Three supports a stability test; one is the cheaper first pass. After the full run, the next research stage is a preregistered forward AI portfolio compared with SPY. The framework is ready; the remaining step is to replace the clearly labeled validation backend with the authorized live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82f15149b047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484c9762824d6f" /><Relationship Type="http://schemas.openxmlformats.org/officeDocument/2006/relationships/slideLayout" Target="/ppt/slideLayouts/slideLayout1.xml" Id="R4dd5fbc7fe1c44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d5fbc7fe1c44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34dec0ef874e87" /><Relationship Type="http://schemas.openxmlformats.org/officeDocument/2006/relationships/notesSlide" Target="/ppt/notesSlides/notesSlide1.xml" Id="R8fdc5e63d5f549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82db108f1a44f3" /><Relationship Type="http://schemas.openxmlformats.org/officeDocument/2006/relationships/notesSlide" Target="/ppt/notesSlides/notesSlide2.xml" Id="R4022517441b24a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1159063c5745d5" /><Relationship Type="http://schemas.openxmlformats.org/officeDocument/2006/relationships/notesSlide" Target="/ppt/notesSlides/notesSlide3.xml" Id="R6f0a0b300fb641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5a8d27a16b4a22" /><Relationship Type="http://schemas.openxmlformats.org/officeDocument/2006/relationships/notesSlide" Target="/ppt/notesSlides/notesSlide4.xml" Id="Rf759d62ccf9a40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564c924c814242" /><Relationship Type="http://schemas.openxmlformats.org/officeDocument/2006/relationships/chart" Target="/ppt/slides/charts/chart1.xml" Id="Ra8a636161ea14278" /><Relationship Type="http://schemas.openxmlformats.org/officeDocument/2006/relationships/notesSlide" Target="/ppt/notesSlides/notesSlide5.xml" Id="R1e585dd38e6c4e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25201d2bba4374" /><Relationship Type="http://schemas.openxmlformats.org/officeDocument/2006/relationships/notesSlide" Target="/ppt/notesSlides/notesSlide6.xml" Id="R56bfb11ef9234a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c013ad75844d84" /><Relationship Type="http://schemas.openxmlformats.org/officeDocument/2006/relationships/notesSlide" Target="/ppt/notesSlides/notesSlide7.xml" Id="R82b2d1dc810d4834" /></Relationships>
</file>

<file path=ppt/slides/charts/chart1.xml><?xml version="1.0" encoding="utf-8"?>
<c:chartSpace xmlns:c="http://schemas.openxmlformats.org/drawingml/2006/chart">
  <c:lang val="en-US"/>
  <c:chart>
    <c:plotArea>
      <c:barChart>
        <c:barDir val="col"/>
        <c:grouping val="clustered"/>
        <c:varyColors val="0"/>
        <c:ser>
          <c:idx val="0"/>
          <c:order val="0"/>
          <c:tx>
            <c:v>Dry-run ordinal</c:v>
          </c:tx>
          <c:spPr>
            <a:solidFill xmlns:a="http://schemas.openxmlformats.org/drawingml/2006/main">
              <a:srgbClr val="3D8DFF"/>
            </a:solidFill>
          </c:spPr>
          <c:cat>
            <c:strLit>
              <c:ptCount val="4"/>
              <c:pt idx="0">
                <c:v>A
Memory</c:v>
              </c:pt>
              <c:pt idx="1">
                <c:v>B
Price</c:v>
              </c:pt>
              <c:pt idx="2">
                <c:v>C
Quant</c:v>
              </c:pt>
              <c:pt idx="3">
                <c:v>D
Web*</c:v>
              </c:pt>
            </c:strLit>
          </c:cat>
          <c:val>
            <c:numLit>
              <c:formatCode>General</c:formatCode>
              <c:ptCount val="4"/>
              <c:pt idx="0">
                <c:v>0</c:v>
              </c:pt>
              <c:pt idx="1">
                <c:v>2</c:v>
              </c:pt>
              <c:pt idx="2">
                <c:v>2</c:v>
              </c:pt>
              <c:pt idx="3">
                <c:v>2</c:v>
              </c:pt>
            </c:numLit>
          </c:val>
        </c:ser>
        <c:dLbls>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EB5BE"/>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2"/>
          <c:min val="-2"/>
        </c:scaling>
        <c:delete val="0"/>
        <c:axPos val="l"/>
        <c:majorGridlines>
          <c:spPr>
            <a:ln xmlns:a="http://schemas.openxmlformats.org/drawingml/2006/main" w="9525">
              <a:solidFill>
                <a:srgbClr val="E8EA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5F667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cover-accent">
            <a:extLst xmlns:a="http://schemas.openxmlformats.org/drawingml/2006/main">
              <a:ext uri="{FF2B5EF4-FFF2-40B4-BE49-F238E27FC236}">
                <a16:creationId xmlns:a16="http://schemas.microsoft.com/office/drawing/2014/main" id="{5B1CE3D8-F8AB-4524-80D1-8B774A5D830D}"/>
              </a:ext>
            </a:extLst>
          </p:cNvPr>
          <p:cNvSpPr>
            <a:spLocks xmlns:a="http://schemas.openxmlformats.org/drawingml/2006/main" noGrp="1"/>
          </p:cNvSpPr>
          <p:nvPr/>
        </p:nvSpPr>
        <p:spPr>
          <a:xfrm xmlns:a="http://schemas.openxmlformats.org/drawingml/2006/main">
            <a:off x="0" y="0"/>
            <a:ext cx="228600" cy="228600"/>
          </a:xfrm>
          <a:prstGeom xmlns:a="http://schemas.openxmlformats.org/drawingml/2006/main" prst="rect">
            <a:avLst/>
          </a:prstGeom>
          <a:solidFill xmlns:a="http://schemas.openxmlformats.org/drawingml/2006/main">
            <a:srgbClr val="3D8DFF"/>
          </a:solidFill>
        </p:spPr>
      </p:sp>
      <p:sp>
        <p:nvSpPr>
          <p:cNvPr id="2" name="eyebrow">
            <a:extLst xmlns:a="http://schemas.openxmlformats.org/drawingml/2006/main">
              <a:ext uri="{FF2B5EF4-FFF2-40B4-BE49-F238E27FC236}">
                <a16:creationId xmlns:a16="http://schemas.microsoft.com/office/drawing/2014/main" id="{6C3F5909-FBF0-4E9B-A5DE-9EBD532FC6E6}"/>
              </a:ext>
            </a:extLst>
          </p:cNvPr>
          <p:cNvSpPr>
            <a:spLocks xmlns:a="http://schemas.openxmlformats.org/drawingml/2006/main" noGrp="1"/>
          </p:cNvSpPr>
          <p:nvPr/>
        </p:nvSpPr>
        <p:spPr>
          <a:xfrm xmlns:a="http://schemas.openxmlformats.org/drawingml/2006/main">
            <a:off x="495300" y="419100"/>
            <a:ext cx="61912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t>WEEKLY RESEARCH UPDATE  •  17 JULY 2026</a:t>
            </a:r>
          </a:p>
        </p:txBody>
      </p:sp>
      <p:sp>
        <p:nvSpPr>
          <p:cNvPr id="3" name="cover-title">
            <a:extLst xmlns:a="http://schemas.openxmlformats.org/drawingml/2006/main">
              <a:ext uri="{FF2B5EF4-FFF2-40B4-BE49-F238E27FC236}">
                <a16:creationId xmlns:a16="http://schemas.microsoft.com/office/drawing/2014/main" id="{8B98CAED-E03C-4F92-9FEF-1755B4B9D6A3}"/>
              </a:ext>
            </a:extLst>
          </p:cNvPr>
          <p:cNvSpPr>
            <a:spLocks xmlns:a="http://schemas.openxmlformats.org/drawingml/2006/main" noGrp="1"/>
          </p:cNvSpPr>
          <p:nvPr/>
        </p:nvSpPr>
        <p:spPr>
          <a:xfrm xmlns:a="http://schemas.openxmlformats.org/drawingml/2006/main">
            <a:off x="495300" y="2095500"/>
            <a:ext cx="9334500" cy="21907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5700" b="0">
                <a:solidFill>
                  <a:srgbClr val="000000"/>
                </a:solidFill>
                <a:latin typeface="Helvetica Neue"/>
                <a:ea typeface="Helvetica Neue"/>
                <a:cs typeface="Helvetica Neue"/>
              </a:defRPr>
            </a:pPr>
            <a:r>
              <a:t>When does AI
add judgment?</a:t>
            </a:r>
          </a:p>
        </p:txBody>
      </p:sp>
      <p:sp>
        <p:nvSpPr>
          <p:cNvPr id="4" name="cover-subtitle">
            <a:extLst xmlns:a="http://schemas.openxmlformats.org/drawingml/2006/main">
              <a:ext uri="{FF2B5EF4-FFF2-40B4-BE49-F238E27FC236}">
                <a16:creationId xmlns:a16="http://schemas.microsoft.com/office/drawing/2014/main" id="{02F2A3E7-EB5B-4587-9D72-14BCA12A3933}"/>
              </a:ext>
            </a:extLst>
          </p:cNvPr>
          <p:cNvSpPr>
            <a:spLocks xmlns:a="http://schemas.openxmlformats.org/drawingml/2006/main" noGrp="1"/>
          </p:cNvSpPr>
          <p:nvPr/>
        </p:nvSpPr>
        <p:spPr>
          <a:xfrm xmlns:a="http://schemas.openxmlformats.org/drawingml/2006/main">
            <a:off x="495300" y="4905375"/>
            <a:ext cx="752475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0">
                <a:solidFill>
                  <a:srgbClr val="5F6670"/>
                </a:solidFill>
                <a:latin typeface="Helvetica Neue"/>
                <a:ea typeface="Helvetica Neue"/>
                <a:cs typeface="Helvetica Neue"/>
              </a:defRPr>
            </a:pPr>
            <a:r>
              <a:t>A controlled S&amp;P 500 stock-classification experiment</a:t>
            </a:r>
          </a:p>
        </p:txBody>
      </p:sp>
      <p:sp>
        <p:nvSpPr>
          <p:cNvPr id="5" name="cover-status">
            <a:extLst xmlns:a="http://schemas.openxmlformats.org/drawingml/2006/main">
              <a:ext uri="{FF2B5EF4-FFF2-40B4-BE49-F238E27FC236}">
                <a16:creationId xmlns:a16="http://schemas.microsoft.com/office/drawing/2014/main" id="{25FC3BE5-6138-42FC-AEDB-0B67C6273CE8}"/>
              </a:ext>
            </a:extLst>
          </p:cNvPr>
          <p:cNvSpPr>
            <a:spLocks xmlns:a="http://schemas.openxmlformats.org/drawingml/2006/main" noGrp="1"/>
          </p:cNvSpPr>
          <p:nvPr/>
        </p:nvSpPr>
        <p:spPr>
          <a:xfrm xmlns:a="http://schemas.openxmlformats.org/drawingml/2006/main">
            <a:off x="495300" y="5972175"/>
            <a:ext cx="5905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t>Python framework + no-key validation complete</a:t>
            </a:r>
          </a:p>
        </p:txBody>
      </p:sp>
    </p:spTree>
    <p:extLst>
      <p:ext uri="{BB962C8B-B14F-4D97-AF65-F5344CB8AC3E}">
        <p14:creationId xmlns:p14="http://schemas.microsoft.com/office/powerpoint/2010/main" val="162015160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92B320F0-D9C8-4B93-9340-7C02FADDCB05}"/>
              </a:ext>
            </a:extLst>
          </p:cNvPr>
          <p:cNvSpPr>
            <a:spLocks xmlns:a="http://schemas.openxmlformats.org/drawingml/2006/main" noGrp="1"/>
          </p:cNvSpPr>
          <p:nvPr/>
        </p:nvSpPr>
        <p:spPr>
          <a:xfrm xmlns:a="http://schemas.openxmlformats.org/drawingml/2006/main">
            <a:off x="393668" y="342900"/>
            <a:ext cx="1140142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t>One question, four controlled information sets</a:t>
            </a:r>
          </a:p>
        </p:txBody>
      </p:sp>
      <p:sp>
        <p:nvSpPr>
          <p:cNvPr id="2" name="rule-A">
            <a:extLst xmlns:a="http://schemas.openxmlformats.org/drawingml/2006/main">
              <a:ext uri="{FF2B5EF4-FFF2-40B4-BE49-F238E27FC236}">
                <a16:creationId xmlns:a16="http://schemas.microsoft.com/office/drawing/2014/main" id="{77D7E33E-731B-49A0-A0C3-0A0AD25708EE}"/>
              </a:ext>
            </a:extLst>
          </p:cNvPr>
          <p:cNvSpPr>
            <a:spLocks xmlns:a="http://schemas.openxmlformats.org/drawingml/2006/main" noGrp="1"/>
          </p:cNvSpPr>
          <p:nvPr/>
        </p:nvSpPr>
        <p:spPr>
          <a:xfrm xmlns:a="http://schemas.openxmlformats.org/drawingml/2006/main">
            <a:off x="495300" y="1619250"/>
            <a:ext cx="228600" cy="228600"/>
          </a:xfrm>
          <a:prstGeom xmlns:a="http://schemas.openxmlformats.org/drawingml/2006/main" prst="rect">
            <a:avLst/>
          </a:prstGeom>
          <a:solidFill xmlns:a="http://schemas.openxmlformats.org/drawingml/2006/main">
            <a:srgbClr val="8C98A6"/>
          </a:solidFill>
        </p:spPr>
      </p:sp>
      <p:sp>
        <p:nvSpPr>
          <p:cNvPr id="3" name="letter-A">
            <a:extLst xmlns:a="http://schemas.openxmlformats.org/drawingml/2006/main">
              <a:ext uri="{FF2B5EF4-FFF2-40B4-BE49-F238E27FC236}">
                <a16:creationId xmlns:a16="http://schemas.microsoft.com/office/drawing/2014/main" id="{7C435D83-54F2-4BCF-B39D-41FC675F1421}"/>
              </a:ext>
            </a:extLst>
          </p:cNvPr>
          <p:cNvSpPr>
            <a:spLocks xmlns:a="http://schemas.openxmlformats.org/drawingml/2006/main" noGrp="1"/>
          </p:cNvSpPr>
          <p:nvPr/>
        </p:nvSpPr>
        <p:spPr>
          <a:xfrm xmlns:a="http://schemas.openxmlformats.org/drawingml/2006/main">
            <a:off x="723900" y="1619250"/>
            <a:ext cx="4191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8C98A6"/>
                </a:solidFill>
                <a:latin typeface="Helvetica Neue"/>
                <a:ea typeface="Helvetica Neue"/>
                <a:cs typeface="Helvetica Neue"/>
              </a:defRPr>
            </a:pPr>
            <a:r>
              <a:t>A</a:t>
            </a:r>
          </a:p>
        </p:txBody>
      </p:sp>
      <p:sp>
        <p:nvSpPr>
          <p:cNvPr id="4" name="condition-A">
            <a:extLst xmlns:a="http://schemas.openxmlformats.org/drawingml/2006/main">
              <a:ext uri="{FF2B5EF4-FFF2-40B4-BE49-F238E27FC236}">
                <a16:creationId xmlns:a16="http://schemas.microsoft.com/office/drawing/2014/main" id="{0196DC05-D461-4F5E-B351-FE6D5661578F}"/>
              </a:ext>
            </a:extLst>
          </p:cNvPr>
          <p:cNvSpPr>
            <a:spLocks xmlns:a="http://schemas.openxmlformats.org/drawingml/2006/main" noGrp="1"/>
          </p:cNvSpPr>
          <p:nvPr/>
        </p:nvSpPr>
        <p:spPr>
          <a:xfrm xmlns:a="http://schemas.openxmlformats.org/drawingml/2006/main">
            <a:off x="1200150" y="1638300"/>
            <a:ext cx="4572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Memory only</a:t>
            </a:r>
          </a:p>
        </p:txBody>
      </p:sp>
      <p:sp>
        <p:nvSpPr>
          <p:cNvPr id="5" name="condition-body-A">
            <a:extLst xmlns:a="http://schemas.openxmlformats.org/drawingml/2006/main">
              <a:ext uri="{FF2B5EF4-FFF2-40B4-BE49-F238E27FC236}">
                <a16:creationId xmlns:a16="http://schemas.microsoft.com/office/drawing/2014/main" id="{0AD1E1B2-9A66-4173-BB86-AB1F5ABDA65F}"/>
              </a:ext>
            </a:extLst>
          </p:cNvPr>
          <p:cNvSpPr>
            <a:spLocks xmlns:a="http://schemas.openxmlformats.org/drawingml/2006/main" noGrp="1"/>
          </p:cNvSpPr>
          <p:nvPr/>
        </p:nvSpPr>
        <p:spPr>
          <a:xfrm xmlns:a="http://schemas.openxmlformats.org/drawingml/2006/main">
            <a:off x="723900" y="2162175"/>
            <a:ext cx="4953000" cy="838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t>Company identity • no supplied dated evidence • no web</a:t>
            </a:r>
          </a:p>
        </p:txBody>
      </p:sp>
      <p:sp>
        <p:nvSpPr>
          <p:cNvPr id="6" name="rule-B">
            <a:extLst xmlns:a="http://schemas.openxmlformats.org/drawingml/2006/main">
              <a:ext uri="{FF2B5EF4-FFF2-40B4-BE49-F238E27FC236}">
                <a16:creationId xmlns:a16="http://schemas.microsoft.com/office/drawing/2014/main" id="{30F34755-4C3D-4E13-BE13-235AB017C0C5}"/>
              </a:ext>
            </a:extLst>
          </p:cNvPr>
          <p:cNvSpPr>
            <a:spLocks xmlns:a="http://schemas.openxmlformats.org/drawingml/2006/main" noGrp="1"/>
          </p:cNvSpPr>
          <p:nvPr/>
        </p:nvSpPr>
        <p:spPr>
          <a:xfrm xmlns:a="http://schemas.openxmlformats.org/drawingml/2006/main">
            <a:off x="6286500" y="1619250"/>
            <a:ext cx="228600" cy="228600"/>
          </a:xfrm>
          <a:prstGeom xmlns:a="http://schemas.openxmlformats.org/drawingml/2006/main" prst="rect">
            <a:avLst/>
          </a:prstGeom>
          <a:solidFill xmlns:a="http://schemas.openxmlformats.org/drawingml/2006/main">
            <a:srgbClr val="6DCBF4"/>
          </a:solidFill>
        </p:spPr>
      </p:sp>
      <p:sp>
        <p:nvSpPr>
          <p:cNvPr id="7" name="letter-B">
            <a:extLst xmlns:a="http://schemas.openxmlformats.org/drawingml/2006/main">
              <a:ext uri="{FF2B5EF4-FFF2-40B4-BE49-F238E27FC236}">
                <a16:creationId xmlns:a16="http://schemas.microsoft.com/office/drawing/2014/main" id="{E95DB911-19B2-4AE4-9AD0-F0429B10B837}"/>
              </a:ext>
            </a:extLst>
          </p:cNvPr>
          <p:cNvSpPr>
            <a:spLocks xmlns:a="http://schemas.openxmlformats.org/drawingml/2006/main" noGrp="1"/>
          </p:cNvSpPr>
          <p:nvPr/>
        </p:nvSpPr>
        <p:spPr>
          <a:xfrm xmlns:a="http://schemas.openxmlformats.org/drawingml/2006/main">
            <a:off x="6515100" y="1619250"/>
            <a:ext cx="4191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6DCBF4"/>
                </a:solidFill>
                <a:latin typeface="Helvetica Neue"/>
                <a:ea typeface="Helvetica Neue"/>
                <a:cs typeface="Helvetica Neue"/>
              </a:defRPr>
            </a:pPr>
            <a:r>
              <a:t>B</a:t>
            </a:r>
          </a:p>
        </p:txBody>
      </p:sp>
      <p:sp>
        <p:nvSpPr>
          <p:cNvPr id="8" name="condition-B">
            <a:extLst xmlns:a="http://schemas.openxmlformats.org/drawingml/2006/main">
              <a:ext uri="{FF2B5EF4-FFF2-40B4-BE49-F238E27FC236}">
                <a16:creationId xmlns:a16="http://schemas.microsoft.com/office/drawing/2014/main" id="{840CAEB0-4B1F-438B-9FE9-E0E95E2B61A3}"/>
              </a:ext>
            </a:extLst>
          </p:cNvPr>
          <p:cNvSpPr>
            <a:spLocks xmlns:a="http://schemas.openxmlformats.org/drawingml/2006/main" noGrp="1"/>
          </p:cNvSpPr>
          <p:nvPr/>
        </p:nvSpPr>
        <p:spPr>
          <a:xfrm xmlns:a="http://schemas.openxmlformats.org/drawingml/2006/main">
            <a:off x="6991350" y="1638300"/>
            <a:ext cx="4572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Price history</a:t>
            </a:r>
          </a:p>
        </p:txBody>
      </p:sp>
      <p:sp>
        <p:nvSpPr>
          <p:cNvPr id="9" name="condition-body-B">
            <a:extLst xmlns:a="http://schemas.openxmlformats.org/drawingml/2006/main">
              <a:ext uri="{FF2B5EF4-FFF2-40B4-BE49-F238E27FC236}">
                <a16:creationId xmlns:a16="http://schemas.microsoft.com/office/drawing/2014/main" id="{1AF1B4B3-ED13-4949-B4FC-738210BBFFFE}"/>
              </a:ext>
            </a:extLst>
          </p:cNvPr>
          <p:cNvSpPr>
            <a:spLocks xmlns:a="http://schemas.openxmlformats.org/drawingml/2006/main" noGrp="1"/>
          </p:cNvSpPr>
          <p:nvPr/>
        </p:nvSpPr>
        <p:spPr>
          <a:xfrm xmlns:a="http://schemas.openxmlformats.org/drawingml/2006/main">
            <a:off x="6515100" y="2162175"/>
            <a:ext cx="4953000" cy="838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t>24 month-end adjusted prices and volume • no web</a:t>
            </a:r>
          </a:p>
        </p:txBody>
      </p:sp>
      <p:sp>
        <p:nvSpPr>
          <p:cNvPr id="10" name="rule-C">
            <a:extLst xmlns:a="http://schemas.openxmlformats.org/drawingml/2006/main">
              <a:ext uri="{FF2B5EF4-FFF2-40B4-BE49-F238E27FC236}">
                <a16:creationId xmlns:a16="http://schemas.microsoft.com/office/drawing/2014/main" id="{C282F3EB-58A7-4B9E-A8C7-42F08A4B19AA}"/>
              </a:ext>
            </a:extLst>
          </p:cNvPr>
          <p:cNvSpPr>
            <a:spLocks xmlns:a="http://schemas.openxmlformats.org/drawingml/2006/main" noGrp="1"/>
          </p:cNvSpPr>
          <p:nvPr/>
        </p:nvSpPr>
        <p:spPr>
          <a:xfrm xmlns:a="http://schemas.openxmlformats.org/drawingml/2006/main">
            <a:off x="495300" y="3714750"/>
            <a:ext cx="228600" cy="228600"/>
          </a:xfrm>
          <a:prstGeom xmlns:a="http://schemas.openxmlformats.org/drawingml/2006/main" prst="rect">
            <a:avLst/>
          </a:prstGeom>
          <a:solidFill xmlns:a="http://schemas.openxmlformats.org/drawingml/2006/main">
            <a:srgbClr val="3D8DFF"/>
          </a:solidFill>
        </p:spPr>
      </p:sp>
      <p:sp>
        <p:nvSpPr>
          <p:cNvPr id="11" name="letter-C">
            <a:extLst xmlns:a="http://schemas.openxmlformats.org/drawingml/2006/main">
              <a:ext uri="{FF2B5EF4-FFF2-40B4-BE49-F238E27FC236}">
                <a16:creationId xmlns:a16="http://schemas.microsoft.com/office/drawing/2014/main" id="{FF879C82-1FED-4148-8685-4D2D324CCD1E}"/>
              </a:ext>
            </a:extLst>
          </p:cNvPr>
          <p:cNvSpPr>
            <a:spLocks xmlns:a="http://schemas.openxmlformats.org/drawingml/2006/main" noGrp="1"/>
          </p:cNvSpPr>
          <p:nvPr/>
        </p:nvSpPr>
        <p:spPr>
          <a:xfrm xmlns:a="http://schemas.openxmlformats.org/drawingml/2006/main">
            <a:off x="723900" y="3714750"/>
            <a:ext cx="4191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t>C</a:t>
            </a:r>
          </a:p>
        </p:txBody>
      </p:sp>
      <p:sp>
        <p:nvSpPr>
          <p:cNvPr id="12" name="condition-C">
            <a:extLst xmlns:a="http://schemas.openxmlformats.org/drawingml/2006/main">
              <a:ext uri="{FF2B5EF4-FFF2-40B4-BE49-F238E27FC236}">
                <a16:creationId xmlns:a16="http://schemas.microsoft.com/office/drawing/2014/main" id="{9C5D2AD2-3ED3-4398-B81D-6AAEE3FC98D3}"/>
              </a:ext>
            </a:extLst>
          </p:cNvPr>
          <p:cNvSpPr>
            <a:spLocks xmlns:a="http://schemas.openxmlformats.org/drawingml/2006/main" noGrp="1"/>
          </p:cNvSpPr>
          <p:nvPr/>
        </p:nvSpPr>
        <p:spPr>
          <a:xfrm xmlns:a="http://schemas.openxmlformats.org/drawingml/2006/main">
            <a:off x="1200150" y="3733800"/>
            <a:ext cx="4572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Quantitative packet</a:t>
            </a:r>
          </a:p>
        </p:txBody>
      </p:sp>
      <p:sp>
        <p:nvSpPr>
          <p:cNvPr id="13" name="condition-body-C">
            <a:extLst xmlns:a="http://schemas.openxmlformats.org/drawingml/2006/main">
              <a:ext uri="{FF2B5EF4-FFF2-40B4-BE49-F238E27FC236}">
                <a16:creationId xmlns:a16="http://schemas.microsoft.com/office/drawing/2014/main" id="{668ED849-0E2D-472E-ACC9-331367C2D02D}"/>
              </a:ext>
            </a:extLst>
          </p:cNvPr>
          <p:cNvSpPr>
            <a:spLocks xmlns:a="http://schemas.openxmlformats.org/drawingml/2006/main" noGrp="1"/>
          </p:cNvSpPr>
          <p:nvPr/>
        </p:nvSpPr>
        <p:spPr>
          <a:xfrm xmlns:a="http://schemas.openxmlformats.org/drawingml/2006/main">
            <a:off x="723900" y="4257675"/>
            <a:ext cx="4953000" cy="838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t>Returns • technicals • SPY/sector context • fundamentals • no web</a:t>
            </a:r>
          </a:p>
        </p:txBody>
      </p:sp>
      <p:sp>
        <p:nvSpPr>
          <p:cNvPr id="14" name="rule-D">
            <a:extLst xmlns:a="http://schemas.openxmlformats.org/drawingml/2006/main">
              <a:ext uri="{FF2B5EF4-FFF2-40B4-BE49-F238E27FC236}">
                <a16:creationId xmlns:a16="http://schemas.microsoft.com/office/drawing/2014/main" id="{88A6A362-A9EF-42D2-9E5E-184319B3CAFF}"/>
              </a:ext>
            </a:extLst>
          </p:cNvPr>
          <p:cNvSpPr>
            <a:spLocks xmlns:a="http://schemas.openxmlformats.org/drawingml/2006/main" noGrp="1"/>
          </p:cNvSpPr>
          <p:nvPr/>
        </p:nvSpPr>
        <p:spPr>
          <a:xfrm xmlns:a="http://schemas.openxmlformats.org/drawingml/2006/main">
            <a:off x="6286500" y="3714750"/>
            <a:ext cx="228600" cy="228600"/>
          </a:xfrm>
          <a:prstGeom xmlns:a="http://schemas.openxmlformats.org/drawingml/2006/main" prst="rect">
            <a:avLst/>
          </a:prstGeom>
          <a:solidFill xmlns:a="http://schemas.openxmlformats.org/drawingml/2006/main">
            <a:srgbClr val="1456A0"/>
          </a:solidFill>
        </p:spPr>
      </p:sp>
      <p:sp>
        <p:nvSpPr>
          <p:cNvPr id="15" name="letter-D">
            <a:extLst xmlns:a="http://schemas.openxmlformats.org/drawingml/2006/main">
              <a:ext uri="{FF2B5EF4-FFF2-40B4-BE49-F238E27FC236}">
                <a16:creationId xmlns:a16="http://schemas.microsoft.com/office/drawing/2014/main" id="{63C30C58-6E0A-4357-B62D-F07999FC94CD}"/>
              </a:ext>
            </a:extLst>
          </p:cNvPr>
          <p:cNvSpPr>
            <a:spLocks xmlns:a="http://schemas.openxmlformats.org/drawingml/2006/main" noGrp="1"/>
          </p:cNvSpPr>
          <p:nvPr/>
        </p:nvSpPr>
        <p:spPr>
          <a:xfrm xmlns:a="http://schemas.openxmlformats.org/drawingml/2006/main">
            <a:off x="6515100" y="3714750"/>
            <a:ext cx="4191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456A0"/>
                </a:solidFill>
                <a:latin typeface="Helvetica Neue"/>
                <a:ea typeface="Helvetica Neue"/>
                <a:cs typeface="Helvetica Neue"/>
              </a:defRPr>
            </a:pPr>
            <a:r>
              <a:t>D</a:t>
            </a:r>
          </a:p>
        </p:txBody>
      </p:sp>
      <p:sp>
        <p:nvSpPr>
          <p:cNvPr id="16" name="condition-D">
            <a:extLst xmlns:a="http://schemas.openxmlformats.org/drawingml/2006/main">
              <a:ext uri="{FF2B5EF4-FFF2-40B4-BE49-F238E27FC236}">
                <a16:creationId xmlns:a16="http://schemas.microsoft.com/office/drawing/2014/main" id="{2CD834DB-8470-411A-A845-6389BAAEBCAB}"/>
              </a:ext>
            </a:extLst>
          </p:cNvPr>
          <p:cNvSpPr>
            <a:spLocks xmlns:a="http://schemas.openxmlformats.org/drawingml/2006/main" noGrp="1"/>
          </p:cNvSpPr>
          <p:nvPr/>
        </p:nvSpPr>
        <p:spPr>
          <a:xfrm xmlns:a="http://schemas.openxmlformats.org/drawingml/2006/main">
            <a:off x="6991350" y="3733800"/>
            <a:ext cx="4572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Current web</a:t>
            </a:r>
          </a:p>
        </p:txBody>
      </p:sp>
      <p:sp>
        <p:nvSpPr>
          <p:cNvPr id="17" name="condition-body-D">
            <a:extLst xmlns:a="http://schemas.openxmlformats.org/drawingml/2006/main">
              <a:ext uri="{FF2B5EF4-FFF2-40B4-BE49-F238E27FC236}">
                <a16:creationId xmlns:a16="http://schemas.microsoft.com/office/drawing/2014/main" id="{74E5D698-6597-4267-BA76-D36C9B92B62F}"/>
              </a:ext>
            </a:extLst>
          </p:cNvPr>
          <p:cNvSpPr>
            <a:spLocks xmlns:a="http://schemas.openxmlformats.org/drawingml/2006/main" noGrp="1"/>
          </p:cNvSpPr>
          <p:nvPr/>
        </p:nvSpPr>
        <p:spPr>
          <a:xfrm xmlns:a="http://schemas.openxmlformats.org/drawingml/2006/main">
            <a:off x="6515100" y="4257675"/>
            <a:ext cx="4953000" cy="838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t>Condition C + web search • sources and analyst exposure captured</a:t>
            </a:r>
          </a:p>
        </p:txBody>
      </p:sp>
      <p:sp>
        <p:nvSpPr>
          <p:cNvPr id="18" name="constant-bar">
            <a:extLst xmlns:a="http://schemas.openxmlformats.org/drawingml/2006/main">
              <a:ext uri="{FF2B5EF4-FFF2-40B4-BE49-F238E27FC236}">
                <a16:creationId xmlns:a16="http://schemas.microsoft.com/office/drawing/2014/main" id="{7B5D8616-92C3-4410-9E0B-012F2D8892DD}"/>
              </a:ext>
            </a:extLst>
          </p:cNvPr>
          <p:cNvSpPr>
            <a:spLocks xmlns:a="http://schemas.openxmlformats.org/drawingml/2006/main" noGrp="1"/>
          </p:cNvSpPr>
          <p:nvPr/>
        </p:nvSpPr>
        <p:spPr>
          <a:xfrm xmlns:a="http://schemas.openxmlformats.org/drawingml/2006/main">
            <a:off x="495300" y="5600700"/>
            <a:ext cx="228600" cy="228600"/>
          </a:xfrm>
          <a:prstGeom xmlns:a="http://schemas.openxmlformats.org/drawingml/2006/main" prst="roundRect">
            <a:avLst>
              <a:gd name="adj" fmla="val 33333"/>
            </a:avLst>
          </a:prstGeom>
          <a:solidFill xmlns:a="http://schemas.openxmlformats.org/drawingml/2006/main">
            <a:srgbClr val="F2F2F2"/>
          </a:solidFill>
        </p:spPr>
      </p:sp>
      <p:sp>
        <p:nvSpPr>
          <p:cNvPr id="19" name="constant-label">
            <a:extLst xmlns:a="http://schemas.openxmlformats.org/drawingml/2006/main">
              <a:ext uri="{FF2B5EF4-FFF2-40B4-BE49-F238E27FC236}">
                <a16:creationId xmlns:a16="http://schemas.microsoft.com/office/drawing/2014/main" id="{0C04166E-F0A5-4765-B049-C107E4032149}"/>
              </a:ext>
            </a:extLst>
          </p:cNvPr>
          <p:cNvSpPr>
            <a:spLocks xmlns:a="http://schemas.openxmlformats.org/drawingml/2006/main" noGrp="1"/>
          </p:cNvSpPr>
          <p:nvPr/>
        </p:nvSpPr>
        <p:spPr>
          <a:xfrm xmlns:a="http://schemas.openxmlformats.org/drawingml/2006/main">
            <a:off x="742950" y="5762625"/>
            <a:ext cx="2095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t>CONSTANT ACROSS A–D</a:t>
            </a:r>
          </a:p>
        </p:txBody>
      </p:sp>
      <p:sp>
        <p:nvSpPr>
          <p:cNvPr id="20" name="constant-text">
            <a:extLst xmlns:a="http://schemas.openxmlformats.org/drawingml/2006/main">
              <a:ext uri="{FF2B5EF4-FFF2-40B4-BE49-F238E27FC236}">
                <a16:creationId xmlns:a16="http://schemas.microsoft.com/office/drawing/2014/main" id="{A7D74856-BB8A-4FDD-AB35-C946E2C88A78}"/>
              </a:ext>
            </a:extLst>
          </p:cNvPr>
          <p:cNvSpPr>
            <a:spLocks xmlns:a="http://schemas.openxmlformats.org/drawingml/2006/main" noGrp="1"/>
          </p:cNvSpPr>
          <p:nvPr/>
        </p:nvSpPr>
        <p:spPr>
          <a:xfrm xmlns:a="http://schemas.openxmlformats.org/drawingml/2006/main">
            <a:off x="2857500" y="5734050"/>
            <a:ext cx="8382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t>same stock • as-of date • 12-month SPY-relative target • five labels • schema • model snapshot</a:t>
            </a:r>
          </a:p>
        </p:txBody>
      </p:sp>
      <p:sp>
        <p:nvSpPr>
          <p:cNvPr id="21" name="source-2">
            <a:extLst xmlns:a="http://schemas.openxmlformats.org/drawingml/2006/main">
              <a:ext uri="{FF2B5EF4-FFF2-40B4-BE49-F238E27FC236}">
                <a16:creationId xmlns:a16="http://schemas.microsoft.com/office/drawing/2014/main" id="{39FDF856-40E1-4061-BEF7-4A82DD9A3D27}"/>
              </a:ext>
            </a:extLst>
          </p:cNvPr>
          <p:cNvSpPr>
            <a:spLocks xmlns:a="http://schemas.openxmlformats.org/drawingml/2006/main" noGrp="1"/>
          </p:cNvSpPr>
          <p:nvPr/>
        </p:nvSpPr>
        <p:spPr>
          <a:xfrm xmlns:a="http://schemas.openxmlformats.org/drawingml/2006/main">
            <a:off x="393668" y="6343650"/>
            <a:ext cx="1028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F6670"/>
                </a:solidFill>
                <a:latin typeface="Helvetica Neue"/>
                <a:ea typeface="Helvetica Neue"/>
                <a:cs typeface="Helvetica Neue"/>
              </a:defRPr>
            </a:pPr>
            <a:r>
              <a:t>Design source: versioned prompts and config/experiment.json</a:t>
            </a:r>
          </a:p>
        </p:txBody>
      </p:sp>
      <p:sp>
        <p:nvSpPr>
          <p:cNvPr id="22" name="page-2">
            <a:extLst xmlns:a="http://schemas.openxmlformats.org/drawingml/2006/main">
              <a:ext uri="{FF2B5EF4-FFF2-40B4-BE49-F238E27FC236}">
                <a16:creationId xmlns:a16="http://schemas.microsoft.com/office/drawing/2014/main" id="{10FD5201-1E02-4D26-9B88-1B3A72B9CC83}"/>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t>2</a:t>
            </a:r>
          </a:p>
        </p:txBody>
      </p:sp>
    </p:spTree>
    <p:extLst>
      <p:ext uri="{BB962C8B-B14F-4D97-AF65-F5344CB8AC3E}">
        <p14:creationId xmlns:p14="http://schemas.microsoft.com/office/powerpoint/2010/main" val="20824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title-3">
            <a:extLst xmlns:a="http://schemas.openxmlformats.org/drawingml/2006/main">
              <a:ext uri="{FF2B5EF4-FFF2-40B4-BE49-F238E27FC236}">
                <a16:creationId xmlns:a16="http://schemas.microsoft.com/office/drawing/2014/main" id="{DFFE90A7-FFC1-4122-95C8-76CB150991DC}"/>
              </a:ext>
            </a:extLst>
          </p:cNvPr>
          <p:cNvSpPr>
            <a:spLocks xmlns:a="http://schemas.openxmlformats.org/drawingml/2006/main" noGrp="1"/>
          </p:cNvSpPr>
          <p:nvPr/>
        </p:nvSpPr>
        <p:spPr>
          <a:xfrm xmlns:a="http://schemas.openxmlformats.org/drawingml/2006/main">
            <a:off x="393668" y="342900"/>
            <a:ext cx="1140142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t>The pipeline freezes inputs before it compares outputs</a:t>
            </a:r>
          </a:p>
        </p:txBody>
      </p:sp>
      <p:cxnSp>
        <p:nvCxnSpPr>
          <p:cNvPr id="19" name="timeline"/>
          <p:cNvCxnSpPr/>
          <p:nvPr/>
        </p:nvCxnSpPr>
        <p:spPr>
          <a:xfrm xmlns:a="http://schemas.openxmlformats.org/drawingml/2006/main">
            <a:off x="762000" y="3048000"/>
            <a:ext cx="228600" cy="228600"/>
          </a:xfrm>
          <a:prstGeom xmlns:a="http://schemas.openxmlformats.org/drawingml/2006/main" prst="straightConnector1">
            <a:avLst/>
          </a:prstGeom>
          <a:ln xmlns:a="http://schemas.openxmlformats.org/drawingml/2006/main" w="19050">
            <a:solidFill>
              <a:srgbClr val="D8DCE2"/>
            </a:solidFill>
            <a:prstDash val="solid"/>
          </a:ln>
        </p:spPr>
      </p:cxnSp>
      <p:sp>
        <p:nvSpPr>
          <p:cNvPr id="3" name="stage-node-1">
            <a:extLst xmlns:a="http://schemas.openxmlformats.org/drawingml/2006/main">
              <a:ext uri="{FF2B5EF4-FFF2-40B4-BE49-F238E27FC236}">
                <a16:creationId xmlns:a16="http://schemas.microsoft.com/office/drawing/2014/main" id="{4D85DEF9-0402-4F33-81A3-28669FA6E82B}"/>
              </a:ext>
            </a:extLst>
          </p:cNvPr>
          <p:cNvSpPr>
            <a:spLocks xmlns:a="http://schemas.openxmlformats.org/drawingml/2006/main" noGrp="1"/>
          </p:cNvSpPr>
          <p:nvPr/>
        </p:nvSpPr>
        <p:spPr>
          <a:xfrm xmlns:a="http://schemas.openxmlformats.org/drawingml/2006/main">
            <a:off x="1209675" y="2971800"/>
            <a:ext cx="228600" cy="228600"/>
          </a:xfrm>
          <a:prstGeom xmlns:a="http://schemas.openxmlformats.org/drawingml/2006/main" prst="ellipse">
            <a:avLst/>
          </a:prstGeom>
          <a:solidFill xmlns:a="http://schemas.openxmlformats.org/drawingml/2006/main">
            <a:srgbClr val="000000"/>
          </a:solidFill>
        </p:spPr>
      </p:sp>
      <p:sp>
        <p:nvSpPr>
          <p:cNvPr id="4" name="stage-node-2">
            <a:extLst xmlns:a="http://schemas.openxmlformats.org/drawingml/2006/main">
              <a:ext uri="{FF2B5EF4-FFF2-40B4-BE49-F238E27FC236}">
                <a16:creationId xmlns:a16="http://schemas.microsoft.com/office/drawing/2014/main" id="{5E4666F6-403A-4968-B46B-00CC277DA41A}"/>
              </a:ext>
            </a:extLst>
          </p:cNvPr>
          <p:cNvSpPr>
            <a:spLocks xmlns:a="http://schemas.openxmlformats.org/drawingml/2006/main" noGrp="1"/>
          </p:cNvSpPr>
          <p:nvPr/>
        </p:nvSpPr>
        <p:spPr>
          <a:xfrm xmlns:a="http://schemas.openxmlformats.org/drawingml/2006/main">
            <a:off x="4972050" y="2971800"/>
            <a:ext cx="228600" cy="228600"/>
          </a:xfrm>
          <a:prstGeom xmlns:a="http://schemas.openxmlformats.org/drawingml/2006/main" prst="ellipse">
            <a:avLst/>
          </a:prstGeom>
          <a:solidFill xmlns:a="http://schemas.openxmlformats.org/drawingml/2006/main">
            <a:srgbClr val="3D8DFF"/>
          </a:solidFill>
        </p:spPr>
      </p:sp>
      <p:sp>
        <p:nvSpPr>
          <p:cNvPr id="5" name="stage-node-3">
            <a:extLst xmlns:a="http://schemas.openxmlformats.org/drawingml/2006/main">
              <a:ext uri="{FF2B5EF4-FFF2-40B4-BE49-F238E27FC236}">
                <a16:creationId xmlns:a16="http://schemas.microsoft.com/office/drawing/2014/main" id="{0525FD54-1B67-4652-B3EC-84AF700E2A8C}"/>
              </a:ext>
            </a:extLst>
          </p:cNvPr>
          <p:cNvSpPr>
            <a:spLocks xmlns:a="http://schemas.openxmlformats.org/drawingml/2006/main" noGrp="1"/>
          </p:cNvSpPr>
          <p:nvPr/>
        </p:nvSpPr>
        <p:spPr>
          <a:xfrm xmlns:a="http://schemas.openxmlformats.org/drawingml/2006/main">
            <a:off x="8734425" y="2971800"/>
            <a:ext cx="228600" cy="228600"/>
          </a:xfrm>
          <a:prstGeom xmlns:a="http://schemas.openxmlformats.org/drawingml/2006/main" prst="ellipse">
            <a:avLst/>
          </a:prstGeom>
          <a:solidFill xmlns:a="http://schemas.openxmlformats.org/drawingml/2006/main">
            <a:srgbClr val="000000"/>
          </a:solidFill>
        </p:spPr>
      </p:sp>
      <p:sp>
        <p:nvSpPr>
          <p:cNvPr id="6" name="stage-1-label">
            <a:extLst xmlns:a="http://schemas.openxmlformats.org/drawingml/2006/main">
              <a:ext uri="{FF2B5EF4-FFF2-40B4-BE49-F238E27FC236}">
                <a16:creationId xmlns:a16="http://schemas.microsoft.com/office/drawing/2014/main" id="{E3D13AC6-D714-45AB-8061-DB2349FE0EDE}"/>
              </a:ext>
            </a:extLst>
          </p:cNvPr>
          <p:cNvSpPr>
            <a:spLocks xmlns:a="http://schemas.openxmlformats.org/drawingml/2006/main" noGrp="1"/>
          </p:cNvSpPr>
          <p:nvPr/>
        </p:nvSpPr>
        <p:spPr>
          <a:xfrm xmlns:a="http://schemas.openxmlformats.org/drawingml/2006/main">
            <a:off x="571500" y="2381250"/>
            <a:ext cx="666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t>01</a:t>
            </a:r>
          </a:p>
        </p:txBody>
      </p:sp>
      <p:sp>
        <p:nvSpPr>
          <p:cNvPr id="7" name="stage-2-label">
            <a:extLst xmlns:a="http://schemas.openxmlformats.org/drawingml/2006/main">
              <a:ext uri="{FF2B5EF4-FFF2-40B4-BE49-F238E27FC236}">
                <a16:creationId xmlns:a16="http://schemas.microsoft.com/office/drawing/2014/main" id="{A8F990AB-494A-4DA3-B584-CDAC6DB4B879}"/>
              </a:ext>
            </a:extLst>
          </p:cNvPr>
          <p:cNvSpPr>
            <a:spLocks xmlns:a="http://schemas.openxmlformats.org/drawingml/2006/main" noGrp="1"/>
          </p:cNvSpPr>
          <p:nvPr/>
        </p:nvSpPr>
        <p:spPr>
          <a:xfrm xmlns:a="http://schemas.openxmlformats.org/drawingml/2006/main">
            <a:off x="4333875" y="2381250"/>
            <a:ext cx="666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t>02</a:t>
            </a:r>
          </a:p>
        </p:txBody>
      </p:sp>
      <p:sp>
        <p:nvSpPr>
          <p:cNvPr id="8" name="stage-3-label">
            <a:extLst xmlns:a="http://schemas.openxmlformats.org/drawingml/2006/main">
              <a:ext uri="{FF2B5EF4-FFF2-40B4-BE49-F238E27FC236}">
                <a16:creationId xmlns:a16="http://schemas.microsoft.com/office/drawing/2014/main" id="{BF1468AF-64C3-4BB6-9105-A0AE16D0FD47}"/>
              </a:ext>
            </a:extLst>
          </p:cNvPr>
          <p:cNvSpPr>
            <a:spLocks xmlns:a="http://schemas.openxmlformats.org/drawingml/2006/main" noGrp="1"/>
          </p:cNvSpPr>
          <p:nvPr/>
        </p:nvSpPr>
        <p:spPr>
          <a:xfrm xmlns:a="http://schemas.openxmlformats.org/drawingml/2006/main">
            <a:off x="8096250" y="2381250"/>
            <a:ext cx="666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t>03</a:t>
            </a:r>
          </a:p>
        </p:txBody>
      </p:sp>
      <p:sp>
        <p:nvSpPr>
          <p:cNvPr id="9" name="stage-1-title">
            <a:extLst xmlns:a="http://schemas.openxmlformats.org/drawingml/2006/main">
              <a:ext uri="{FF2B5EF4-FFF2-40B4-BE49-F238E27FC236}">
                <a16:creationId xmlns:a16="http://schemas.microsoft.com/office/drawing/2014/main" id="{97F335BE-9454-476F-98EF-3F5CC5C52DC6}"/>
              </a:ext>
            </a:extLst>
          </p:cNvPr>
          <p:cNvSpPr>
            <a:spLocks xmlns:a="http://schemas.openxmlformats.org/drawingml/2006/main" noGrp="1"/>
          </p:cNvSpPr>
          <p:nvPr/>
        </p:nvSpPr>
        <p:spPr>
          <a:xfrm xmlns:a="http://schemas.openxmlformats.org/drawingml/2006/main">
            <a:off x="571500" y="3429000"/>
            <a:ext cx="2857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Acquire</a:t>
            </a:r>
          </a:p>
        </p:txBody>
      </p:sp>
      <p:sp>
        <p:nvSpPr>
          <p:cNvPr id="10" name="stage-1-body">
            <a:extLst xmlns:a="http://schemas.openxmlformats.org/drawingml/2006/main">
              <a:ext uri="{FF2B5EF4-FFF2-40B4-BE49-F238E27FC236}">
                <a16:creationId xmlns:a16="http://schemas.microsoft.com/office/drawing/2014/main" id="{C1B4F6ED-B80D-401B-BE7C-C403DE3C41CC}"/>
              </a:ext>
            </a:extLst>
          </p:cNvPr>
          <p:cNvSpPr>
            <a:spLocks xmlns:a="http://schemas.openxmlformats.org/drawingml/2006/main" noGrp="1"/>
          </p:cNvSpPr>
          <p:nvPr/>
        </p:nvSpPr>
        <p:spPr>
          <a:xfrm xmlns:a="http://schemas.openxmlformats.org/drawingml/2006/main">
            <a:off x="571500" y="4000500"/>
            <a:ext cx="285750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t>Official SPY snapshot
EOD prices
TTM metrics + analyst counts</a:t>
            </a:r>
          </a:p>
        </p:txBody>
      </p:sp>
      <p:sp>
        <p:nvSpPr>
          <p:cNvPr id="11" name="stage-2-title">
            <a:extLst xmlns:a="http://schemas.openxmlformats.org/drawingml/2006/main">
              <a:ext uri="{FF2B5EF4-FFF2-40B4-BE49-F238E27FC236}">
                <a16:creationId xmlns:a16="http://schemas.microsoft.com/office/drawing/2014/main" id="{FA7D3F2A-F335-4908-8E56-8C25DFAB71EE}"/>
              </a:ext>
            </a:extLst>
          </p:cNvPr>
          <p:cNvSpPr>
            <a:spLocks xmlns:a="http://schemas.openxmlformats.org/drawingml/2006/main" noGrp="1"/>
          </p:cNvSpPr>
          <p:nvPr/>
        </p:nvSpPr>
        <p:spPr>
          <a:xfrm xmlns:a="http://schemas.openxmlformats.org/drawingml/2006/main">
            <a:off x="4333875" y="3429000"/>
            <a:ext cx="2857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Assess</a:t>
            </a:r>
          </a:p>
        </p:txBody>
      </p:sp>
      <p:sp>
        <p:nvSpPr>
          <p:cNvPr id="12" name="stage-2-body">
            <a:extLst xmlns:a="http://schemas.openxmlformats.org/drawingml/2006/main">
              <a:ext uri="{FF2B5EF4-FFF2-40B4-BE49-F238E27FC236}">
                <a16:creationId xmlns:a16="http://schemas.microsoft.com/office/drawing/2014/main" id="{0284AD62-1093-4490-A102-2747DD044FF3}"/>
              </a:ext>
            </a:extLst>
          </p:cNvPr>
          <p:cNvSpPr>
            <a:spLocks xmlns:a="http://schemas.openxmlformats.org/drawingml/2006/main" noGrp="1"/>
          </p:cNvSpPr>
          <p:nvPr/>
        </p:nvSpPr>
        <p:spPr>
          <a:xfrm xmlns:a="http://schemas.openxmlformats.org/drawingml/2006/main">
            <a:off x="4333875" y="4000500"/>
            <a:ext cx="285750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t>Versioned prompt
Strict JSON schema
Web only in D + raw capture</a:t>
            </a:r>
          </a:p>
        </p:txBody>
      </p:sp>
      <p:sp>
        <p:nvSpPr>
          <p:cNvPr id="13" name="stage-3-title">
            <a:extLst xmlns:a="http://schemas.openxmlformats.org/drawingml/2006/main">
              <a:ext uri="{FF2B5EF4-FFF2-40B4-BE49-F238E27FC236}">
                <a16:creationId xmlns:a16="http://schemas.microsoft.com/office/drawing/2014/main" id="{1824CB47-85D7-47E0-8724-30CC4EEB20EE}"/>
              </a:ext>
            </a:extLst>
          </p:cNvPr>
          <p:cNvSpPr>
            <a:spLocks xmlns:a="http://schemas.openxmlformats.org/drawingml/2006/main" noGrp="1"/>
          </p:cNvSpPr>
          <p:nvPr/>
        </p:nvSpPr>
        <p:spPr>
          <a:xfrm xmlns:a="http://schemas.openxmlformats.org/drawingml/2006/main">
            <a:off x="8096250" y="3429000"/>
            <a:ext cx="30480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Compare</a:t>
            </a:r>
          </a:p>
        </p:txBody>
      </p:sp>
      <p:sp>
        <p:nvSpPr>
          <p:cNvPr id="14" name="stage-3-body">
            <a:extLst xmlns:a="http://schemas.openxmlformats.org/drawingml/2006/main">
              <a:ext uri="{FF2B5EF4-FFF2-40B4-BE49-F238E27FC236}">
                <a16:creationId xmlns:a16="http://schemas.microsoft.com/office/drawing/2014/main" id="{F05B5319-2C29-4AD8-86BC-FF20BFBABBDE}"/>
              </a:ext>
            </a:extLst>
          </p:cNvPr>
          <p:cNvSpPr>
            <a:spLocks xmlns:a="http://schemas.openxmlformats.org/drawingml/2006/main" noGrp="1"/>
          </p:cNvSpPr>
          <p:nvPr/>
        </p:nvSpPr>
        <p:spPr>
          <a:xfrm xmlns:a="http://schemas.openxmlformats.org/drawingml/2006/main">
            <a:off x="8096250" y="4000500"/>
            <a:ext cx="314325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t>Condition flips
Ordinal analyst gap
Sources, reasons, stability</a:t>
            </a:r>
          </a:p>
        </p:txBody>
      </p:sp>
      <p:sp>
        <p:nvSpPr>
          <p:cNvPr id="15" name="pipeline-promise">
            <a:extLst xmlns:a="http://schemas.openxmlformats.org/drawingml/2006/main">
              <a:ext uri="{FF2B5EF4-FFF2-40B4-BE49-F238E27FC236}">
                <a16:creationId xmlns:a16="http://schemas.microsoft.com/office/drawing/2014/main" id="{3B3B76BC-8C61-430A-8EE3-EAACFF2038BC}"/>
              </a:ext>
            </a:extLst>
          </p:cNvPr>
          <p:cNvSpPr>
            <a:spLocks xmlns:a="http://schemas.openxmlformats.org/drawingml/2006/main" noGrp="1"/>
          </p:cNvSpPr>
          <p:nvPr/>
        </p:nvSpPr>
        <p:spPr>
          <a:xfrm xmlns:a="http://schemas.openxmlformats.org/drawingml/2006/main">
            <a:off x="571500" y="5619750"/>
            <a:ext cx="10477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t>Every prompt, source response, feature row and classification is stored in a run-specific folder.</a:t>
            </a:r>
          </a:p>
        </p:txBody>
      </p:sp>
      <p:sp>
        <p:nvSpPr>
          <p:cNvPr id="16" name="source-3">
            <a:extLst xmlns:a="http://schemas.openxmlformats.org/drawingml/2006/main">
              <a:ext uri="{FF2B5EF4-FFF2-40B4-BE49-F238E27FC236}">
                <a16:creationId xmlns:a16="http://schemas.microsoft.com/office/drawing/2014/main" id="{370189F7-6F6D-4CCE-91FC-ACF2254631AA}"/>
              </a:ext>
            </a:extLst>
          </p:cNvPr>
          <p:cNvSpPr>
            <a:spLocks xmlns:a="http://schemas.openxmlformats.org/drawingml/2006/main" noGrp="1"/>
          </p:cNvSpPr>
          <p:nvPr/>
        </p:nvSpPr>
        <p:spPr>
          <a:xfrm xmlns:a="http://schemas.openxmlformats.org/drawingml/2006/main">
            <a:off x="393668" y="6343650"/>
            <a:ext cx="1028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F6670"/>
                </a:solidFill>
                <a:latin typeface="Helvetica Neue"/>
                <a:ea typeface="Helvetica Neue"/>
                <a:cs typeface="Helvetica Neue"/>
              </a:defRPr>
            </a:pPr>
            <a:r>
              <a:t>Sources: State Street SPY holdings; FMP stable APIs; OpenAI Responses API</a:t>
            </a:r>
          </a:p>
        </p:txBody>
      </p:sp>
      <p:sp>
        <p:nvSpPr>
          <p:cNvPr id="17" name="page-3">
            <a:extLst xmlns:a="http://schemas.openxmlformats.org/drawingml/2006/main">
              <a:ext uri="{FF2B5EF4-FFF2-40B4-BE49-F238E27FC236}">
                <a16:creationId xmlns:a16="http://schemas.microsoft.com/office/drawing/2014/main" id="{6378B0F6-E504-427A-B1CC-B46766737F03}"/>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t>3</a:t>
            </a:r>
          </a:p>
        </p:txBody>
      </p:sp>
    </p:spTree>
    <p:extLst>
      <p:ext uri="{BB962C8B-B14F-4D97-AF65-F5344CB8AC3E}">
        <p14:creationId xmlns:p14="http://schemas.microsoft.com/office/powerpoint/2010/main" val="18237922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 name="title-4">
            <a:extLst xmlns:a="http://schemas.openxmlformats.org/drawingml/2006/main">
              <a:ext uri="{FF2B5EF4-FFF2-40B4-BE49-F238E27FC236}">
                <a16:creationId xmlns:a16="http://schemas.microsoft.com/office/drawing/2014/main" id="{FE48C793-9CD8-429A-962E-9061F6B3E82B}"/>
              </a:ext>
            </a:extLst>
          </p:cNvPr>
          <p:cNvSpPr>
            <a:spLocks xmlns:a="http://schemas.openxmlformats.org/drawingml/2006/main" noGrp="1"/>
          </p:cNvSpPr>
          <p:nvPr/>
        </p:nvSpPr>
        <p:spPr>
          <a:xfrm xmlns:a="http://schemas.openxmlformats.org/drawingml/2006/main">
            <a:off x="393668" y="342900"/>
            <a:ext cx="1140142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t>The framework is ready before paid keys arrive</a:t>
            </a:r>
          </a:p>
        </p:txBody>
      </p:sp>
      <p:sp>
        <p:nvSpPr>
          <p:cNvPr id="2" name="readiness-intro">
            <a:extLst xmlns:a="http://schemas.openxmlformats.org/drawingml/2006/main">
              <a:ext uri="{FF2B5EF4-FFF2-40B4-BE49-F238E27FC236}">
                <a16:creationId xmlns:a16="http://schemas.microsoft.com/office/drawing/2014/main" id="{F72A7365-F4FE-469E-990D-17B9B11B95F0}"/>
              </a:ext>
            </a:extLst>
          </p:cNvPr>
          <p:cNvSpPr>
            <a:spLocks xmlns:a="http://schemas.openxmlformats.org/drawingml/2006/main" noGrp="1"/>
          </p:cNvSpPr>
          <p:nvPr/>
        </p:nvSpPr>
        <p:spPr>
          <a:xfrm xmlns:a="http://schemas.openxmlformats.org/drawingml/2006/main">
            <a:off x="393668" y="1257300"/>
            <a:ext cx="1076325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5F6670"/>
                </a:solidFill>
                <a:latin typeface="Helvetica Neue"/>
                <a:ea typeface="Helvetica Neue"/>
                <a:cs typeface="Helvetica Neue"/>
              </a:defRPr>
            </a:pPr>
            <a:r>
              <a:t>The no-key run exercised data ingestion, feature calculation, prompt isolation, schema validation and artifact storage.</a:t>
            </a:r>
          </a:p>
        </p:txBody>
      </p:sp>
      <p:sp>
        <p:nvSpPr>
          <p:cNvPr id="3" name="pending-strip">
            <a:extLst xmlns:a="http://schemas.openxmlformats.org/drawingml/2006/main">
              <a:ext uri="{FF2B5EF4-FFF2-40B4-BE49-F238E27FC236}">
                <a16:creationId xmlns:a16="http://schemas.microsoft.com/office/drawing/2014/main" id="{5B8A4246-F3B2-4DBB-B571-688F4AC436AA}"/>
              </a:ext>
            </a:extLst>
          </p:cNvPr>
          <p:cNvSpPr>
            <a:spLocks xmlns:a="http://schemas.openxmlformats.org/drawingml/2006/main" noGrp="1"/>
          </p:cNvSpPr>
          <p:nvPr/>
        </p:nvSpPr>
        <p:spPr>
          <a:xfrm xmlns:a="http://schemas.openxmlformats.org/drawingml/2006/main">
            <a:off x="393668" y="2095500"/>
            <a:ext cx="228600" cy="228600"/>
          </a:xfrm>
          <a:prstGeom xmlns:a="http://schemas.openxmlformats.org/drawingml/2006/main" prst="roundRect">
            <a:avLst>
              <a:gd name="adj" fmla="val 33333"/>
            </a:avLst>
          </a:prstGeom>
          <a:solidFill xmlns:a="http://schemas.openxmlformats.org/drawingml/2006/main">
            <a:srgbClr val="DCEBFF"/>
          </a:solidFill>
        </p:spPr>
      </p:sp>
      <p:sp>
        <p:nvSpPr>
          <p:cNvPr id="4" name="pending-text">
            <a:extLst xmlns:a="http://schemas.openxmlformats.org/drawingml/2006/main">
              <a:ext uri="{FF2B5EF4-FFF2-40B4-BE49-F238E27FC236}">
                <a16:creationId xmlns:a16="http://schemas.microsoft.com/office/drawing/2014/main" id="{336856A4-6126-4B8A-A18B-30B362648C87}"/>
              </a:ext>
            </a:extLst>
          </p:cNvPr>
          <p:cNvSpPr>
            <a:spLocks xmlns:a="http://schemas.openxmlformats.org/drawingml/2006/main" noGrp="1"/>
          </p:cNvSpPr>
          <p:nvPr/>
        </p:nvSpPr>
        <p:spPr>
          <a:xfrm xmlns:a="http://schemas.openxmlformats.org/drawingml/2006/main">
            <a:off x="638175" y="2247900"/>
            <a:ext cx="10287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456A0"/>
                </a:solidFill>
                <a:latin typeface="Helvetica Neue"/>
                <a:ea typeface="Helvetica Neue"/>
                <a:cs typeface="Helvetica Neue"/>
              </a:defRPr>
            </a:pPr>
            <a:r>
              <a:t>Only live AI recommendations and analyst consensus remain pending the two authorized keys.</a:t>
            </a:r>
          </a:p>
        </p:txBody>
      </p:sp>
      <p:sp>
        <p:nvSpPr>
          <p:cNvPr id="5" name="stat-card-records">
            <a:extLst xmlns:a="http://schemas.openxmlformats.org/drawingml/2006/main">
              <a:ext uri="{FF2B5EF4-FFF2-40B4-BE49-F238E27FC236}">
                <a16:creationId xmlns:a16="http://schemas.microsoft.com/office/drawing/2014/main" id="{40F604BA-9D36-4694-9E06-5BEB08846404}"/>
              </a:ext>
            </a:extLst>
          </p:cNvPr>
          <p:cNvSpPr>
            <a:spLocks xmlns:a="http://schemas.openxmlformats.org/drawingml/2006/main" noGrp="1"/>
          </p:cNvSpPr>
          <p:nvPr/>
        </p:nvSpPr>
        <p:spPr>
          <a:xfrm xmlns:a="http://schemas.openxmlformats.org/drawingml/2006/main">
            <a:off x="393668" y="3028950"/>
            <a:ext cx="228600" cy="228600"/>
          </a:xfrm>
          <a:prstGeom xmlns:a="http://schemas.openxmlformats.org/drawingml/2006/main" prst="roundRect">
            <a:avLst>
              <a:gd name="adj" fmla="val 33333"/>
            </a:avLst>
          </a:prstGeom>
          <a:solidFill xmlns:a="http://schemas.openxmlformats.org/drawingml/2006/main">
            <a:srgbClr val="F2F2F2"/>
          </a:solidFill>
        </p:spPr>
      </p:sp>
      <p:sp>
        <p:nvSpPr>
          <p:cNvPr id="6" name="stat-accent-records">
            <a:extLst xmlns:a="http://schemas.openxmlformats.org/drawingml/2006/main">
              <a:ext uri="{FF2B5EF4-FFF2-40B4-BE49-F238E27FC236}">
                <a16:creationId xmlns:a16="http://schemas.microsoft.com/office/drawing/2014/main" id="{AA705322-63FB-410B-87EC-161BE252D6F7}"/>
              </a:ext>
            </a:extLst>
          </p:cNvPr>
          <p:cNvSpPr>
            <a:spLocks xmlns:a="http://schemas.openxmlformats.org/drawingml/2006/main" noGrp="1"/>
          </p:cNvSpPr>
          <p:nvPr/>
        </p:nvSpPr>
        <p:spPr>
          <a:xfrm xmlns:a="http://schemas.openxmlformats.org/drawingml/2006/main">
            <a:off x="393668" y="3028950"/>
            <a:ext cx="228600" cy="228600"/>
          </a:xfrm>
          <a:prstGeom xmlns:a="http://schemas.openxmlformats.org/drawingml/2006/main" prst="rect">
            <a:avLst/>
          </a:prstGeom>
          <a:solidFill xmlns:a="http://schemas.openxmlformats.org/drawingml/2006/main">
            <a:srgbClr val="3D8DFF"/>
          </a:solidFill>
        </p:spPr>
      </p:sp>
      <p:sp>
        <p:nvSpPr>
          <p:cNvPr id="7" name="stat-records">
            <a:extLst xmlns:a="http://schemas.openxmlformats.org/drawingml/2006/main">
              <a:ext uri="{FF2B5EF4-FFF2-40B4-BE49-F238E27FC236}">
                <a16:creationId xmlns:a16="http://schemas.microsoft.com/office/drawing/2014/main" id="{F283D9BF-6005-4C56-9D01-23F92FEB03EE}"/>
              </a:ext>
            </a:extLst>
          </p:cNvPr>
          <p:cNvSpPr>
            <a:spLocks xmlns:a="http://schemas.openxmlformats.org/drawingml/2006/main" noGrp="1"/>
          </p:cNvSpPr>
          <p:nvPr/>
        </p:nvSpPr>
        <p:spPr>
          <a:xfrm xmlns:a="http://schemas.openxmlformats.org/drawingml/2006/main">
            <a:off x="679418" y="3429000"/>
            <a:ext cx="28575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200" b="1">
                <a:solidFill>
                  <a:srgbClr val="3D8DFF"/>
                </a:solidFill>
                <a:latin typeface="Helvetica Neue"/>
                <a:ea typeface="Helvetica Neue"/>
                <a:cs typeface="Helvetica Neue"/>
              </a:defRPr>
            </a:pPr>
            <a:r>
              <a:t>72/72</a:t>
            </a:r>
          </a:p>
        </p:txBody>
      </p:sp>
      <p:sp>
        <p:nvSpPr>
          <p:cNvPr id="8" name="stat-label-records">
            <a:extLst xmlns:a="http://schemas.openxmlformats.org/drawingml/2006/main">
              <a:ext uri="{FF2B5EF4-FFF2-40B4-BE49-F238E27FC236}">
                <a16:creationId xmlns:a16="http://schemas.microsoft.com/office/drawing/2014/main" id="{524870D5-4A7C-4146-9DE4-128D9BBF76B7}"/>
              </a:ext>
            </a:extLst>
          </p:cNvPr>
          <p:cNvSpPr>
            <a:spLocks xmlns:a="http://schemas.openxmlformats.org/drawingml/2006/main" noGrp="1"/>
          </p:cNvSpPr>
          <p:nvPr/>
        </p:nvSpPr>
        <p:spPr>
          <a:xfrm xmlns:a="http://schemas.openxmlformats.org/drawingml/2006/main">
            <a:off x="679418" y="4400550"/>
            <a:ext cx="28575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Pilot records written</a:t>
            </a:r>
          </a:p>
        </p:txBody>
      </p:sp>
      <p:sp>
        <p:nvSpPr>
          <p:cNvPr id="9" name="stat-sub-records">
            <a:extLst xmlns:a="http://schemas.openxmlformats.org/drawingml/2006/main">
              <a:ext uri="{FF2B5EF4-FFF2-40B4-BE49-F238E27FC236}">
                <a16:creationId xmlns:a16="http://schemas.microsoft.com/office/drawing/2014/main" id="{C5609A6F-A0D0-4BE9-823D-92D4310213F5}"/>
              </a:ext>
            </a:extLst>
          </p:cNvPr>
          <p:cNvSpPr>
            <a:spLocks xmlns:a="http://schemas.openxmlformats.org/drawingml/2006/main" noGrp="1"/>
          </p:cNvSpPr>
          <p:nvPr/>
        </p:nvSpPr>
        <p:spPr>
          <a:xfrm xmlns:a="http://schemas.openxmlformats.org/drawingml/2006/main">
            <a:off x="679418" y="4895850"/>
            <a:ext cx="2857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t>6 stocks × 4 conditions × 3 repeats</a:t>
            </a:r>
          </a:p>
        </p:txBody>
      </p:sp>
      <p:sp>
        <p:nvSpPr>
          <p:cNvPr id="10" name="stat-card-tests">
            <a:extLst xmlns:a="http://schemas.openxmlformats.org/drawingml/2006/main">
              <a:ext uri="{FF2B5EF4-FFF2-40B4-BE49-F238E27FC236}">
                <a16:creationId xmlns:a16="http://schemas.microsoft.com/office/drawing/2014/main" id="{35546051-F342-4D8A-B5F4-DB9AADB1B9F5}"/>
              </a:ext>
            </a:extLst>
          </p:cNvPr>
          <p:cNvSpPr>
            <a:spLocks xmlns:a="http://schemas.openxmlformats.org/drawingml/2006/main" noGrp="1"/>
          </p:cNvSpPr>
          <p:nvPr/>
        </p:nvSpPr>
        <p:spPr>
          <a:xfrm xmlns:a="http://schemas.openxmlformats.org/drawingml/2006/main">
            <a:off x="4381500" y="3028950"/>
            <a:ext cx="228600" cy="228600"/>
          </a:xfrm>
          <a:prstGeom xmlns:a="http://schemas.openxmlformats.org/drawingml/2006/main" prst="roundRect">
            <a:avLst>
              <a:gd name="adj" fmla="val 33333"/>
            </a:avLst>
          </a:prstGeom>
          <a:solidFill xmlns:a="http://schemas.openxmlformats.org/drawingml/2006/main">
            <a:srgbClr val="F2F2F2"/>
          </a:solidFill>
        </p:spPr>
      </p:sp>
      <p:sp>
        <p:nvSpPr>
          <p:cNvPr id="11" name="stat-accent-tests">
            <a:extLst xmlns:a="http://schemas.openxmlformats.org/drawingml/2006/main">
              <a:ext uri="{FF2B5EF4-FFF2-40B4-BE49-F238E27FC236}">
                <a16:creationId xmlns:a16="http://schemas.microsoft.com/office/drawing/2014/main" id="{486A240C-F842-47A6-8BB1-F0688E75C490}"/>
              </a:ext>
            </a:extLst>
          </p:cNvPr>
          <p:cNvSpPr>
            <a:spLocks xmlns:a="http://schemas.openxmlformats.org/drawingml/2006/main" noGrp="1"/>
          </p:cNvSpPr>
          <p:nvPr/>
        </p:nvSpPr>
        <p:spPr>
          <a:xfrm xmlns:a="http://schemas.openxmlformats.org/drawingml/2006/main">
            <a:off x="4381500" y="3028950"/>
            <a:ext cx="228600" cy="228600"/>
          </a:xfrm>
          <a:prstGeom xmlns:a="http://schemas.openxmlformats.org/drawingml/2006/main" prst="rect">
            <a:avLst/>
          </a:prstGeom>
          <a:solidFill xmlns:a="http://schemas.openxmlformats.org/drawingml/2006/main">
            <a:srgbClr val="1456A0"/>
          </a:solidFill>
        </p:spPr>
      </p:sp>
      <p:sp>
        <p:nvSpPr>
          <p:cNvPr id="12" name="stat-tests">
            <a:extLst xmlns:a="http://schemas.openxmlformats.org/drawingml/2006/main">
              <a:ext uri="{FF2B5EF4-FFF2-40B4-BE49-F238E27FC236}">
                <a16:creationId xmlns:a16="http://schemas.microsoft.com/office/drawing/2014/main" id="{30297BF8-4AD3-44A8-9229-B168E45A6CE9}"/>
              </a:ext>
            </a:extLst>
          </p:cNvPr>
          <p:cNvSpPr>
            <a:spLocks xmlns:a="http://schemas.openxmlformats.org/drawingml/2006/main" noGrp="1"/>
          </p:cNvSpPr>
          <p:nvPr/>
        </p:nvSpPr>
        <p:spPr>
          <a:xfrm xmlns:a="http://schemas.openxmlformats.org/drawingml/2006/main">
            <a:off x="4667250" y="3429000"/>
            <a:ext cx="28575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200" b="1">
                <a:solidFill>
                  <a:srgbClr val="1456A0"/>
                </a:solidFill>
                <a:latin typeface="Helvetica Neue"/>
                <a:ea typeface="Helvetica Neue"/>
                <a:cs typeface="Helvetica Neue"/>
              </a:defRPr>
            </a:pPr>
            <a:r>
              <a:t>9</a:t>
            </a:r>
          </a:p>
        </p:txBody>
      </p:sp>
      <p:sp>
        <p:nvSpPr>
          <p:cNvPr id="13" name="stat-label-tests">
            <a:extLst xmlns:a="http://schemas.openxmlformats.org/drawingml/2006/main">
              <a:ext uri="{FF2B5EF4-FFF2-40B4-BE49-F238E27FC236}">
                <a16:creationId xmlns:a16="http://schemas.microsoft.com/office/drawing/2014/main" id="{DCB8C148-270B-436F-9F9F-4BDE1BB3987E}"/>
              </a:ext>
            </a:extLst>
          </p:cNvPr>
          <p:cNvSpPr>
            <a:spLocks xmlns:a="http://schemas.openxmlformats.org/drawingml/2006/main" noGrp="1"/>
          </p:cNvSpPr>
          <p:nvPr/>
        </p:nvSpPr>
        <p:spPr>
          <a:xfrm xmlns:a="http://schemas.openxmlformats.org/drawingml/2006/main">
            <a:off x="4667250" y="4400550"/>
            <a:ext cx="28575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Unit tests passed</a:t>
            </a:r>
          </a:p>
        </p:txBody>
      </p:sp>
      <p:sp>
        <p:nvSpPr>
          <p:cNvPr id="14" name="stat-sub-tests">
            <a:extLst xmlns:a="http://schemas.openxmlformats.org/drawingml/2006/main">
              <a:ext uri="{FF2B5EF4-FFF2-40B4-BE49-F238E27FC236}">
                <a16:creationId xmlns:a16="http://schemas.microsoft.com/office/drawing/2014/main" id="{49A66997-01C2-4426-90E4-5E30BA7572AE}"/>
              </a:ext>
            </a:extLst>
          </p:cNvPr>
          <p:cNvSpPr>
            <a:spLocks xmlns:a="http://schemas.openxmlformats.org/drawingml/2006/main" noGrp="1"/>
          </p:cNvSpPr>
          <p:nvPr/>
        </p:nvSpPr>
        <p:spPr>
          <a:xfrm xmlns:a="http://schemas.openxmlformats.org/drawingml/2006/main">
            <a:off x="4667250" y="4895850"/>
            <a:ext cx="2857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t>Features • prompts • schema • mappings</a:t>
            </a:r>
          </a:p>
        </p:txBody>
      </p:sp>
      <p:sp>
        <p:nvSpPr>
          <p:cNvPr id="15" name="stat-card-holdings">
            <a:extLst xmlns:a="http://schemas.openxmlformats.org/drawingml/2006/main">
              <a:ext uri="{FF2B5EF4-FFF2-40B4-BE49-F238E27FC236}">
                <a16:creationId xmlns:a16="http://schemas.microsoft.com/office/drawing/2014/main" id="{D0DED1E1-2200-4913-AE72-867A66104A6A}"/>
              </a:ext>
            </a:extLst>
          </p:cNvPr>
          <p:cNvSpPr>
            <a:spLocks xmlns:a="http://schemas.openxmlformats.org/drawingml/2006/main" noGrp="1"/>
          </p:cNvSpPr>
          <p:nvPr/>
        </p:nvSpPr>
        <p:spPr>
          <a:xfrm xmlns:a="http://schemas.openxmlformats.org/drawingml/2006/main">
            <a:off x="8372475" y="3028950"/>
            <a:ext cx="228600" cy="228600"/>
          </a:xfrm>
          <a:prstGeom xmlns:a="http://schemas.openxmlformats.org/drawingml/2006/main" prst="roundRect">
            <a:avLst>
              <a:gd name="adj" fmla="val 33333"/>
            </a:avLst>
          </a:prstGeom>
          <a:solidFill xmlns:a="http://schemas.openxmlformats.org/drawingml/2006/main">
            <a:srgbClr val="F2F2F2"/>
          </a:solidFill>
        </p:spPr>
      </p:sp>
      <p:sp>
        <p:nvSpPr>
          <p:cNvPr id="16" name="stat-accent-holdings">
            <a:extLst xmlns:a="http://schemas.openxmlformats.org/drawingml/2006/main">
              <a:ext uri="{FF2B5EF4-FFF2-40B4-BE49-F238E27FC236}">
                <a16:creationId xmlns:a16="http://schemas.microsoft.com/office/drawing/2014/main" id="{1D634EBA-FB8A-4D3C-96F1-B0BD3846084B}"/>
              </a:ext>
            </a:extLst>
          </p:cNvPr>
          <p:cNvSpPr>
            <a:spLocks xmlns:a="http://schemas.openxmlformats.org/drawingml/2006/main" noGrp="1"/>
          </p:cNvSpPr>
          <p:nvPr/>
        </p:nvSpPr>
        <p:spPr>
          <a:xfrm xmlns:a="http://schemas.openxmlformats.org/drawingml/2006/main">
            <a:off x="8372475" y="3028950"/>
            <a:ext cx="228600" cy="228600"/>
          </a:xfrm>
          <a:prstGeom xmlns:a="http://schemas.openxmlformats.org/drawingml/2006/main" prst="rect">
            <a:avLst/>
          </a:prstGeom>
          <a:solidFill xmlns:a="http://schemas.openxmlformats.org/drawingml/2006/main">
            <a:srgbClr val="000000"/>
          </a:solidFill>
        </p:spPr>
      </p:sp>
      <p:sp>
        <p:nvSpPr>
          <p:cNvPr id="17" name="stat-holdings">
            <a:extLst xmlns:a="http://schemas.openxmlformats.org/drawingml/2006/main">
              <a:ext uri="{FF2B5EF4-FFF2-40B4-BE49-F238E27FC236}">
                <a16:creationId xmlns:a16="http://schemas.microsoft.com/office/drawing/2014/main" id="{D7FCC969-3C8D-4008-ADCE-B71CA9EF7EE1}"/>
              </a:ext>
            </a:extLst>
          </p:cNvPr>
          <p:cNvSpPr>
            <a:spLocks xmlns:a="http://schemas.openxmlformats.org/drawingml/2006/main" noGrp="1"/>
          </p:cNvSpPr>
          <p:nvPr/>
        </p:nvSpPr>
        <p:spPr>
          <a:xfrm xmlns:a="http://schemas.openxmlformats.org/drawingml/2006/main">
            <a:off x="8658225" y="3429000"/>
            <a:ext cx="28575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200" b="1">
                <a:solidFill>
                  <a:srgbClr val="000000"/>
                </a:solidFill>
                <a:latin typeface="Helvetica Neue"/>
                <a:ea typeface="Helvetica Neue"/>
                <a:cs typeface="Helvetica Neue"/>
              </a:defRPr>
            </a:pPr>
            <a:r>
              <a:t>504</a:t>
            </a:r>
          </a:p>
        </p:txBody>
      </p:sp>
      <p:sp>
        <p:nvSpPr>
          <p:cNvPr id="18" name="stat-label-holdings">
            <a:extLst xmlns:a="http://schemas.openxmlformats.org/drawingml/2006/main">
              <a:ext uri="{FF2B5EF4-FFF2-40B4-BE49-F238E27FC236}">
                <a16:creationId xmlns:a16="http://schemas.microsoft.com/office/drawing/2014/main" id="{8E18A25E-E389-4937-A0E5-175A90FA9B21}"/>
              </a:ext>
            </a:extLst>
          </p:cNvPr>
          <p:cNvSpPr>
            <a:spLocks xmlns:a="http://schemas.openxmlformats.org/drawingml/2006/main" noGrp="1"/>
          </p:cNvSpPr>
          <p:nvPr/>
        </p:nvSpPr>
        <p:spPr>
          <a:xfrm xmlns:a="http://schemas.openxmlformats.org/drawingml/2006/main">
            <a:off x="8658225" y="4400550"/>
            <a:ext cx="28575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Audit holdings rows</a:t>
            </a:r>
          </a:p>
        </p:txBody>
      </p:sp>
      <p:sp>
        <p:nvSpPr>
          <p:cNvPr id="19" name="stat-sub-holdings">
            <a:extLst xmlns:a="http://schemas.openxmlformats.org/drawingml/2006/main">
              <a:ext uri="{FF2B5EF4-FFF2-40B4-BE49-F238E27FC236}">
                <a16:creationId xmlns:a16="http://schemas.microsoft.com/office/drawing/2014/main" id="{7A6BFF95-4178-420F-A799-AC3EAA29D3D6}"/>
              </a:ext>
            </a:extLst>
          </p:cNvPr>
          <p:cNvSpPr>
            <a:spLocks xmlns:a="http://schemas.openxmlformats.org/drawingml/2006/main" noGrp="1"/>
          </p:cNvSpPr>
          <p:nvPr/>
        </p:nvSpPr>
        <p:spPr>
          <a:xfrm xmlns:a="http://schemas.openxmlformats.org/drawingml/2006/main">
            <a:off x="8658225" y="4895850"/>
            <a:ext cx="2857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t>State Street snapshot • 16 Jul 2026</a:t>
            </a:r>
          </a:p>
        </p:txBody>
      </p:sp>
      <p:sp>
        <p:nvSpPr>
          <p:cNvPr id="20" name="source-4">
            <a:extLst xmlns:a="http://schemas.openxmlformats.org/drawingml/2006/main">
              <a:ext uri="{FF2B5EF4-FFF2-40B4-BE49-F238E27FC236}">
                <a16:creationId xmlns:a16="http://schemas.microsoft.com/office/drawing/2014/main" id="{5947F0A9-ED3D-4A60-A1CF-9903A2267789}"/>
              </a:ext>
            </a:extLst>
          </p:cNvPr>
          <p:cNvSpPr>
            <a:spLocks xmlns:a="http://schemas.openxmlformats.org/drawingml/2006/main" noGrp="1"/>
          </p:cNvSpPr>
          <p:nvPr/>
        </p:nvSpPr>
        <p:spPr>
          <a:xfrm xmlns:a="http://schemas.openxmlformats.org/drawingml/2006/main">
            <a:off x="393668" y="6343650"/>
            <a:ext cx="1028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F6670"/>
                </a:solidFill>
                <a:latin typeface="Helvetica Neue"/>
                <a:ea typeface="Helvetica Neue"/>
                <a:cs typeface="Helvetica Neue"/>
              </a:defRPr>
            </a:pPr>
            <a:r>
              <a:t>Full-run budget: ≈2,000 calls for 1 repeat; ≈6,000 for 3 repeats. Actual N is written to the manifest.</a:t>
            </a:r>
          </a:p>
        </p:txBody>
      </p:sp>
      <p:sp>
        <p:nvSpPr>
          <p:cNvPr id="21" name="page-4">
            <a:extLst xmlns:a="http://schemas.openxmlformats.org/drawingml/2006/main">
              <a:ext uri="{FF2B5EF4-FFF2-40B4-BE49-F238E27FC236}">
                <a16:creationId xmlns:a16="http://schemas.microsoft.com/office/drawing/2014/main" id="{AFD994CC-04C8-4AD7-81C1-BEB83769D41C}"/>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t>4</a:t>
            </a:r>
          </a:p>
        </p:txBody>
      </p:sp>
    </p:spTree>
    <p:extLst>
      <p:ext uri="{BB962C8B-B14F-4D97-AF65-F5344CB8AC3E}">
        <p14:creationId xmlns:p14="http://schemas.microsoft.com/office/powerpoint/2010/main" val="17405764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 name="title-5">
            <a:extLst xmlns:a="http://schemas.openxmlformats.org/drawingml/2006/main">
              <a:ext uri="{FF2B5EF4-FFF2-40B4-BE49-F238E27FC236}">
                <a16:creationId xmlns:a16="http://schemas.microsoft.com/office/drawing/2014/main" id="{D02161A0-3216-4E28-A3C6-D02CC5C8F79A}"/>
              </a:ext>
            </a:extLst>
          </p:cNvPr>
          <p:cNvSpPr>
            <a:spLocks xmlns:a="http://schemas.openxmlformats.org/drawingml/2006/main" noGrp="1"/>
          </p:cNvSpPr>
          <p:nvPr/>
        </p:nvSpPr>
        <p:spPr>
          <a:xfrm xmlns:a="http://schemas.openxmlformats.org/drawingml/2006/main">
            <a:off x="393668" y="342900"/>
            <a:ext cx="11401425"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t>Micron dry run proves routing, not a recommendation</a:t>
            </a:r>
          </a:p>
        </p:txBody>
      </p:sp>
      <p:sp>
        <p:nvSpPr>
          <p:cNvPr id="2" name="dry-banner">
            <a:extLst xmlns:a="http://schemas.openxmlformats.org/drawingml/2006/main">
              <a:ext uri="{FF2B5EF4-FFF2-40B4-BE49-F238E27FC236}">
                <a16:creationId xmlns:a16="http://schemas.microsoft.com/office/drawing/2014/main" id="{04229CD0-5B00-49C9-B88D-1364398FC186}"/>
              </a:ext>
            </a:extLst>
          </p:cNvPr>
          <p:cNvSpPr>
            <a:spLocks xmlns:a="http://schemas.openxmlformats.org/drawingml/2006/main" noGrp="1"/>
          </p:cNvSpPr>
          <p:nvPr/>
        </p:nvSpPr>
        <p:spPr>
          <a:xfrm xmlns:a="http://schemas.openxmlformats.org/drawingml/2006/main">
            <a:off x="393668" y="1057275"/>
            <a:ext cx="228600" cy="228600"/>
          </a:xfrm>
          <a:prstGeom xmlns:a="http://schemas.openxmlformats.org/drawingml/2006/main" prst="roundRect">
            <a:avLst>
              <a:gd name="adj" fmla="val 33333"/>
            </a:avLst>
          </a:prstGeom>
          <a:solidFill xmlns:a="http://schemas.openxmlformats.org/drawingml/2006/main">
            <a:srgbClr val="FFF1E8"/>
          </a:solidFill>
        </p:spPr>
      </p:sp>
      <p:sp>
        <p:nvSpPr>
          <p:cNvPr id="3" name="dry-label">
            <a:extLst xmlns:a="http://schemas.openxmlformats.org/drawingml/2006/main">
              <a:ext uri="{FF2B5EF4-FFF2-40B4-BE49-F238E27FC236}">
                <a16:creationId xmlns:a16="http://schemas.microsoft.com/office/drawing/2014/main" id="{2BD46666-A95A-4594-8147-65288FC3325E}"/>
              </a:ext>
            </a:extLst>
          </p:cNvPr>
          <p:cNvSpPr>
            <a:spLocks xmlns:a="http://schemas.openxmlformats.org/drawingml/2006/main" noGrp="1"/>
          </p:cNvSpPr>
          <p:nvPr/>
        </p:nvSpPr>
        <p:spPr>
          <a:xfrm xmlns:a="http://schemas.openxmlformats.org/drawingml/2006/main">
            <a:off x="619125" y="1200150"/>
            <a:ext cx="1090612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B54708"/>
                </a:solidFill>
                <a:latin typeface="Helvetica Neue"/>
                <a:ea typeface="Helvetica Neue"/>
                <a:cs typeface="Helvetica Neue"/>
              </a:defRPr>
            </a:pPr>
            <a:r>
              <a:t>DRY_RUN_NOT_AI  •  deterministic test rule  •  web search OFF  •  analyst data unavailable</a:t>
            </a:r>
          </a:p>
        </p:txBody>
      </p:sp>
      <p:sp>
        <p:nvSpPr>
          <p:cNvPr id="4" name="chart-label">
            <a:extLst xmlns:a="http://schemas.openxmlformats.org/drawingml/2006/main">
              <a:ext uri="{FF2B5EF4-FFF2-40B4-BE49-F238E27FC236}">
                <a16:creationId xmlns:a16="http://schemas.microsoft.com/office/drawing/2014/main" id="{313CBA21-C12E-4209-8405-F79E4A3B0606}"/>
              </a:ext>
            </a:extLst>
          </p:cNvPr>
          <p:cNvSpPr>
            <a:spLocks xmlns:a="http://schemas.openxmlformats.org/drawingml/2006/main" noGrp="1"/>
          </p:cNvSpPr>
          <p:nvPr/>
        </p:nvSpPr>
        <p:spPr>
          <a:xfrm xmlns:a="http://schemas.openxmlformats.org/drawingml/2006/main">
            <a:off x="457200" y="1743075"/>
            <a:ext cx="2476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670"/>
                </a:solidFill>
                <a:latin typeface="Helvetica Neue"/>
                <a:ea typeface="Helvetica Neue"/>
                <a:cs typeface="Helvetica Neue"/>
              </a:defRPr>
            </a:pPr>
            <a:r>
              <a:t>Ordinal test label</a:t>
            </a:r>
          </a:p>
        </p:txBody>
      </p:sp>
      <p:sp>
        <p:nvSpPr>
          <p:cNvPr id="5" name="insight-rule">
            <a:extLst xmlns:a="http://schemas.openxmlformats.org/drawingml/2006/main">
              <a:ext uri="{FF2B5EF4-FFF2-40B4-BE49-F238E27FC236}">
                <a16:creationId xmlns:a16="http://schemas.microsoft.com/office/drawing/2014/main" id="{A29CFBB2-6FB5-4BE7-A8FF-D28F5EFB3E33}"/>
              </a:ext>
            </a:extLst>
          </p:cNvPr>
          <p:cNvSpPr>
            <a:spLocks xmlns:a="http://schemas.openxmlformats.org/drawingml/2006/main" noGrp="1"/>
          </p:cNvSpPr>
          <p:nvPr/>
        </p:nvSpPr>
        <p:spPr>
          <a:xfrm xmlns:a="http://schemas.openxmlformats.org/drawingml/2006/main">
            <a:off x="6810375" y="1962150"/>
            <a:ext cx="228600" cy="228600"/>
          </a:xfrm>
          <a:prstGeom xmlns:a="http://schemas.openxmlformats.org/drawingml/2006/main" prst="rect">
            <a:avLst/>
          </a:prstGeom>
          <a:solidFill xmlns:a="http://schemas.openxmlformats.org/drawingml/2006/main">
            <a:srgbClr val="3D8DFF"/>
          </a:solidFill>
        </p:spPr>
      </p:sp>
      <p:sp>
        <p:nvSpPr>
          <p:cNvPr id="6" name="mu-stat-1">
            <a:extLst xmlns:a="http://schemas.openxmlformats.org/drawingml/2006/main">
              <a:ext uri="{FF2B5EF4-FFF2-40B4-BE49-F238E27FC236}">
                <a16:creationId xmlns:a16="http://schemas.microsoft.com/office/drawing/2014/main" id="{47DA9572-29FD-4188-8FEB-605C7AC6C04E}"/>
              </a:ext>
            </a:extLst>
          </p:cNvPr>
          <p:cNvSpPr>
            <a:spLocks xmlns:a="http://schemas.openxmlformats.org/drawingml/2006/main" noGrp="1"/>
          </p:cNvSpPr>
          <p:nvPr/>
        </p:nvSpPr>
        <p:spPr>
          <a:xfrm xmlns:a="http://schemas.openxmlformats.org/drawingml/2006/main">
            <a:off x="7143750" y="1981200"/>
            <a:ext cx="4095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502 trading days</a:t>
            </a:r>
          </a:p>
        </p:txBody>
      </p:sp>
      <p:sp>
        <p:nvSpPr>
          <p:cNvPr id="7" name="mu-stat-1-body">
            <a:extLst xmlns:a="http://schemas.openxmlformats.org/drawingml/2006/main">
              <a:ext uri="{FF2B5EF4-FFF2-40B4-BE49-F238E27FC236}">
                <a16:creationId xmlns:a16="http://schemas.microsoft.com/office/drawing/2014/main" id="{8E3871CF-B18D-4F9A-8CF2-79F4622DDFC6}"/>
              </a:ext>
            </a:extLst>
          </p:cNvPr>
          <p:cNvSpPr>
            <a:spLocks xmlns:a="http://schemas.openxmlformats.org/drawingml/2006/main" noGrp="1"/>
          </p:cNvSpPr>
          <p:nvPr/>
        </p:nvSpPr>
        <p:spPr>
          <a:xfrm xmlns:a="http://schemas.openxmlformats.org/drawingml/2006/main">
            <a:off x="7143750" y="2419350"/>
            <a:ext cx="40957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670"/>
                </a:solidFill>
                <a:latin typeface="Helvetica Neue"/>
                <a:ea typeface="Helvetica Neue"/>
                <a:cs typeface="Helvetica Neue"/>
              </a:defRPr>
            </a:pPr>
            <a:r>
              <a:t>Prototype adjusted-price history arrived and was cached.</a:t>
            </a:r>
          </a:p>
        </p:txBody>
      </p:sp>
      <p:sp>
        <p:nvSpPr>
          <p:cNvPr id="8" name="mu-stat-2">
            <a:extLst xmlns:a="http://schemas.openxmlformats.org/drawingml/2006/main">
              <a:ext uri="{FF2B5EF4-FFF2-40B4-BE49-F238E27FC236}">
                <a16:creationId xmlns:a16="http://schemas.microsoft.com/office/drawing/2014/main" id="{EBE40055-5694-4F1C-B8D6-8AE52C3FB365}"/>
              </a:ext>
            </a:extLst>
          </p:cNvPr>
          <p:cNvSpPr>
            <a:spLocks xmlns:a="http://schemas.openxmlformats.org/drawingml/2006/main" noGrp="1"/>
          </p:cNvSpPr>
          <p:nvPr/>
        </p:nvSpPr>
        <p:spPr>
          <a:xfrm xmlns:a="http://schemas.openxmlformats.org/drawingml/2006/main">
            <a:off x="7143750" y="3152775"/>
            <a:ext cx="4095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+631.5% / +610.9 pts</a:t>
            </a:r>
          </a:p>
        </p:txBody>
      </p:sp>
      <p:sp>
        <p:nvSpPr>
          <p:cNvPr id="9" name="mu-stat-2-body">
            <a:extLst xmlns:a="http://schemas.openxmlformats.org/drawingml/2006/main">
              <a:ext uri="{FF2B5EF4-FFF2-40B4-BE49-F238E27FC236}">
                <a16:creationId xmlns:a16="http://schemas.microsoft.com/office/drawing/2014/main" id="{D66D49E6-FD31-4FB2-BCF9-5A2130759DC7}"/>
              </a:ext>
            </a:extLst>
          </p:cNvPr>
          <p:cNvSpPr>
            <a:spLocks xmlns:a="http://schemas.openxmlformats.org/drawingml/2006/main" noGrp="1"/>
          </p:cNvSpPr>
          <p:nvPr/>
        </p:nvSpPr>
        <p:spPr>
          <a:xfrm xmlns:a="http://schemas.openxmlformats.org/drawingml/2006/main">
            <a:off x="7143750" y="3590925"/>
            <a:ext cx="4191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670"/>
                </a:solidFill>
                <a:latin typeface="Helvetica Neue"/>
                <a:ea typeface="Helvetica Neue"/>
                <a:cs typeface="Helvetica Neue"/>
              </a:defRPr>
            </a:pPr>
            <a:r>
              <a:t>12-month return / relative return versus SPY; these extreme signals require source validation.</a:t>
            </a:r>
          </a:p>
        </p:txBody>
      </p:sp>
      <p:sp>
        <p:nvSpPr>
          <p:cNvPr id="10" name="mu-stat-3">
            <a:extLst xmlns:a="http://schemas.openxmlformats.org/drawingml/2006/main">
              <a:ext uri="{FF2B5EF4-FFF2-40B4-BE49-F238E27FC236}">
                <a16:creationId xmlns:a16="http://schemas.microsoft.com/office/drawing/2014/main" id="{40187F64-A330-4CAA-9BE1-1948941856F9}"/>
              </a:ext>
            </a:extLst>
          </p:cNvPr>
          <p:cNvSpPr>
            <a:spLocks xmlns:a="http://schemas.openxmlformats.org/drawingml/2006/main" noGrp="1"/>
          </p:cNvSpPr>
          <p:nvPr/>
        </p:nvSpPr>
        <p:spPr>
          <a:xfrm xmlns:a="http://schemas.openxmlformats.org/drawingml/2006/main">
            <a:off x="7143750" y="4543425"/>
            <a:ext cx="4095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108.3% volatility</a:t>
            </a:r>
          </a:p>
        </p:txBody>
      </p:sp>
      <p:sp>
        <p:nvSpPr>
          <p:cNvPr id="11" name="mu-stat-3-body">
            <a:extLst xmlns:a="http://schemas.openxmlformats.org/drawingml/2006/main">
              <a:ext uri="{FF2B5EF4-FFF2-40B4-BE49-F238E27FC236}">
                <a16:creationId xmlns:a16="http://schemas.microsoft.com/office/drawing/2014/main" id="{FAA0C20F-9EBD-4129-8152-8F0E21089929}"/>
              </a:ext>
            </a:extLst>
          </p:cNvPr>
          <p:cNvSpPr>
            <a:spLocks xmlns:a="http://schemas.openxmlformats.org/drawingml/2006/main" noGrp="1"/>
          </p:cNvSpPr>
          <p:nvPr/>
        </p:nvSpPr>
        <p:spPr>
          <a:xfrm xmlns:a="http://schemas.openxmlformats.org/drawingml/2006/main">
            <a:off x="7143750" y="4981575"/>
            <a:ext cx="4191000" cy="762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670"/>
                </a:solidFill>
                <a:latin typeface="Helvetica Neue"/>
                <a:ea typeface="Helvetica Neue"/>
                <a:cs typeface="Helvetica Neue"/>
              </a:defRPr>
            </a:pPr>
            <a:r>
              <a:t>The rule stored A=HOLD and B–D=STRONG_BUY; that is a routing result, not investment evidence.</a:t>
            </a:r>
          </a:p>
        </p:txBody>
      </p:sp>
      <p:sp>
        <p:nvSpPr>
          <p:cNvPr id="12" name="source-5">
            <a:extLst xmlns:a="http://schemas.openxmlformats.org/drawingml/2006/main">
              <a:ext uri="{FF2B5EF4-FFF2-40B4-BE49-F238E27FC236}">
                <a16:creationId xmlns:a16="http://schemas.microsoft.com/office/drawing/2014/main" id="{58F56A44-9537-4E06-928F-EA560A358343}"/>
              </a:ext>
            </a:extLst>
          </p:cNvPr>
          <p:cNvSpPr>
            <a:spLocks xmlns:a="http://schemas.openxmlformats.org/drawingml/2006/main" noGrp="1"/>
          </p:cNvSpPr>
          <p:nvPr/>
        </p:nvSpPr>
        <p:spPr>
          <a:xfrm xmlns:a="http://schemas.openxmlformats.org/drawingml/2006/main">
            <a:off x="393668" y="6343650"/>
            <a:ext cx="1028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F6670"/>
                </a:solidFill>
                <a:latin typeface="Helvetica Neue"/>
                <a:ea typeface="Helvetica Neue"/>
                <a:cs typeface="Helvetica Neue"/>
              </a:defRPr>
            </a:pPr>
            <a:r>
              <a:t>Prototype price source: Yahoo chart response; values as of 17 Jul 2026. Live AI/FMP result not yet run.</a:t>
            </a:r>
          </a:p>
        </p:txBody>
      </p:sp>
      <p:sp>
        <p:nvSpPr>
          <p:cNvPr id="13" name="page-5">
            <a:extLst xmlns:a="http://schemas.openxmlformats.org/drawingml/2006/main">
              <a:ext uri="{FF2B5EF4-FFF2-40B4-BE49-F238E27FC236}">
                <a16:creationId xmlns:a16="http://schemas.microsoft.com/office/drawing/2014/main" id="{E6891D44-268E-4EB9-8A37-BF1C0A307523}"/>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t>5</a:t>
            </a:r>
          </a:p>
        </p:txBody>
      </p:sp>
      <p:graphicFrame>
        <p:nvGraphicFramePr>
          <p:cNvPr id="28" name="Chart"/>
          <p:cNvGraphicFramePr/>
          <p:nvPr/>
        </p:nvGraphicFramePr>
        <p:xfrm>
          <a:off xmlns:a="http://schemas.openxmlformats.org/drawingml/2006/main" x="457200" y="2076450"/>
          <a:ext xmlns:a="http://schemas.openxmlformats.org/drawingml/2006/main" cx="5810250" cy="3714750"/>
        </p:xfrm>
        <a:graphic xmlns:a="http://schemas.openxmlformats.org/drawingml/2006/main">
          <a:graphicData uri="http://schemas.openxmlformats.org/drawingml/2006/chart">
            <c:chart xmlns:r="http://schemas.openxmlformats.org/officeDocument/2006/relationships" xmlns:c="http://schemas.openxmlformats.org/drawingml/2006/chart" r:id="Ra8a636161ea14278"/>
          </a:graphicData>
        </a:graphic>
      </p:graphicFrame>
    </p:spTree>
    <p:extLst>
      <p:ext uri="{BB962C8B-B14F-4D97-AF65-F5344CB8AC3E}">
        <p14:creationId xmlns:p14="http://schemas.microsoft.com/office/powerpoint/2010/main" val="15140964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9" name="title-6">
            <a:extLst xmlns:a="http://schemas.openxmlformats.org/drawingml/2006/main">
              <a:ext uri="{FF2B5EF4-FFF2-40B4-BE49-F238E27FC236}">
                <a16:creationId xmlns:a16="http://schemas.microsoft.com/office/drawing/2014/main" id="{1A2C81A5-E720-47D8-B599-B547650ECCB3}"/>
              </a:ext>
            </a:extLst>
          </p:cNvPr>
          <p:cNvSpPr>
            <a:spLocks xmlns:a="http://schemas.openxmlformats.org/drawingml/2006/main" noGrp="1"/>
          </p:cNvSpPr>
          <p:nvPr/>
        </p:nvSpPr>
        <p:spPr>
          <a:xfrm xmlns:a="http://schemas.openxmlformats.org/drawingml/2006/main">
            <a:off x="393668" y="342900"/>
            <a:ext cx="1140142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t>Trust requires separating four different claims</a:t>
            </a:r>
          </a:p>
        </p:txBody>
      </p:sp>
      <p:sp>
        <p:nvSpPr>
          <p:cNvPr id="2" name="trust-intro">
            <a:extLst xmlns:a="http://schemas.openxmlformats.org/drawingml/2006/main">
              <a:ext uri="{FF2B5EF4-FFF2-40B4-BE49-F238E27FC236}">
                <a16:creationId xmlns:a16="http://schemas.microsoft.com/office/drawing/2014/main" id="{A9061787-272D-44F6-857C-1427DF19E773}"/>
              </a:ext>
            </a:extLst>
          </p:cNvPr>
          <p:cNvSpPr>
            <a:spLocks xmlns:a="http://schemas.openxmlformats.org/drawingml/2006/main" noGrp="1"/>
          </p:cNvSpPr>
          <p:nvPr/>
        </p:nvSpPr>
        <p:spPr>
          <a:xfrm xmlns:a="http://schemas.openxmlformats.org/drawingml/2006/main">
            <a:off x="393668" y="1200150"/>
            <a:ext cx="11401425"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5F6670"/>
                </a:solidFill>
                <a:latin typeface="Helvetica Neue"/>
                <a:ea typeface="Helvetica Neue"/>
                <a:cs typeface="Helvetica Neue"/>
              </a:defRPr>
            </a:pPr>
            <a:r>
              <a:t>Recommendation agreement, reasoning independence and investment performance are not interchangeable.</a:t>
            </a:r>
          </a:p>
        </p:txBody>
      </p:sp>
      <p:sp>
        <p:nvSpPr>
          <p:cNvPr id="3" name="table-header">
            <a:extLst xmlns:a="http://schemas.openxmlformats.org/drawingml/2006/main">
              <a:ext uri="{FF2B5EF4-FFF2-40B4-BE49-F238E27FC236}">
                <a16:creationId xmlns:a16="http://schemas.microsoft.com/office/drawing/2014/main" id="{6EE8D86C-1D2B-4FFB-A630-A02E08A5DF9E}"/>
              </a:ext>
            </a:extLst>
          </p:cNvPr>
          <p:cNvSpPr>
            <a:spLocks xmlns:a="http://schemas.openxmlformats.org/drawingml/2006/main" noGrp="1"/>
          </p:cNvSpPr>
          <p:nvPr/>
        </p:nvSpPr>
        <p:spPr>
          <a:xfrm xmlns:a="http://schemas.openxmlformats.org/drawingml/2006/main">
            <a:off x="393668" y="1952625"/>
            <a:ext cx="228600" cy="228600"/>
          </a:xfrm>
          <a:prstGeom xmlns:a="http://schemas.openxmlformats.org/drawingml/2006/main" prst="rect">
            <a:avLst/>
          </a:prstGeom>
          <a:solidFill xmlns:a="http://schemas.openxmlformats.org/drawingml/2006/main">
            <a:srgbClr val="F2F2F2"/>
          </a:solidFill>
        </p:spPr>
      </p:sp>
      <p:sp>
        <p:nvSpPr>
          <p:cNvPr id="4" name="header-claim">
            <a:extLst xmlns:a="http://schemas.openxmlformats.org/drawingml/2006/main">
              <a:ext uri="{FF2B5EF4-FFF2-40B4-BE49-F238E27FC236}">
                <a16:creationId xmlns:a16="http://schemas.microsoft.com/office/drawing/2014/main" id="{451CCC1B-4BFD-49EB-9A6B-B35920C62A13}"/>
              </a:ext>
            </a:extLst>
          </p:cNvPr>
          <p:cNvSpPr>
            <a:spLocks xmlns:a="http://schemas.openxmlformats.org/drawingml/2006/main" noGrp="1"/>
          </p:cNvSpPr>
          <p:nvPr/>
        </p:nvSpPr>
        <p:spPr>
          <a:xfrm xmlns:a="http://schemas.openxmlformats.org/drawingml/2006/main">
            <a:off x="581025" y="2066925"/>
            <a:ext cx="23812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t>Research claim</a:t>
            </a:r>
          </a:p>
        </p:txBody>
      </p:sp>
      <p:sp>
        <p:nvSpPr>
          <p:cNvPr id="5" name="header-answer">
            <a:extLst xmlns:a="http://schemas.openxmlformats.org/drawingml/2006/main">
              <a:ext uri="{FF2B5EF4-FFF2-40B4-BE49-F238E27FC236}">
                <a16:creationId xmlns:a16="http://schemas.microsoft.com/office/drawing/2014/main" id="{BD638AF2-A092-4C67-A406-A1CF7DA1BFDA}"/>
              </a:ext>
            </a:extLst>
          </p:cNvPr>
          <p:cNvSpPr>
            <a:spLocks xmlns:a="http://schemas.openxmlformats.org/drawingml/2006/main" noGrp="1"/>
          </p:cNvSpPr>
          <p:nvPr/>
        </p:nvSpPr>
        <p:spPr>
          <a:xfrm xmlns:a="http://schemas.openxmlformats.org/drawingml/2006/main">
            <a:off x="3162300" y="2066925"/>
            <a:ext cx="41910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t>This design can answer</a:t>
            </a:r>
          </a:p>
        </p:txBody>
      </p:sp>
      <p:sp>
        <p:nvSpPr>
          <p:cNvPr id="6" name="header-limit">
            <a:extLst xmlns:a="http://schemas.openxmlformats.org/drawingml/2006/main">
              <a:ext uri="{FF2B5EF4-FFF2-40B4-BE49-F238E27FC236}">
                <a16:creationId xmlns:a16="http://schemas.microsoft.com/office/drawing/2014/main" id="{13BA612A-ED7E-4611-B98E-40D324ECE3FD}"/>
              </a:ext>
            </a:extLst>
          </p:cNvPr>
          <p:cNvSpPr>
            <a:spLocks xmlns:a="http://schemas.openxmlformats.org/drawingml/2006/main" noGrp="1"/>
          </p:cNvSpPr>
          <p:nvPr/>
        </p:nvSpPr>
        <p:spPr>
          <a:xfrm xmlns:a="http://schemas.openxmlformats.org/drawingml/2006/main">
            <a:off x="7639050" y="2066925"/>
            <a:ext cx="39052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t>It cannot infer yet</a:t>
            </a:r>
          </a:p>
        </p:txBody>
      </p:sp>
      <p:sp>
        <p:nvSpPr>
          <p:cNvPr id="7" name="row-rule-0">
            <a:extLst xmlns:a="http://schemas.openxmlformats.org/drawingml/2006/main">
              <a:ext uri="{FF2B5EF4-FFF2-40B4-BE49-F238E27FC236}">
                <a16:creationId xmlns:a16="http://schemas.microsoft.com/office/drawing/2014/main" id="{695DC376-B662-455F-8E58-FC5A13311D5C}"/>
              </a:ext>
            </a:extLst>
          </p:cNvPr>
          <p:cNvSpPr>
            <a:spLocks xmlns:a="http://schemas.openxmlformats.org/drawingml/2006/main" noGrp="1"/>
          </p:cNvSpPr>
          <p:nvPr/>
        </p:nvSpPr>
        <p:spPr>
          <a:xfrm xmlns:a="http://schemas.openxmlformats.org/drawingml/2006/main">
            <a:off x="393668" y="2438400"/>
            <a:ext cx="228600" cy="228600"/>
          </a:xfrm>
          <a:prstGeom xmlns:a="http://schemas.openxmlformats.org/drawingml/2006/main" prst="rect">
            <a:avLst/>
          </a:prstGeom>
          <a:solidFill xmlns:a="http://schemas.openxmlformats.org/drawingml/2006/main">
            <a:srgbClr val="D8DCE2"/>
          </a:solidFill>
        </p:spPr>
      </p:sp>
      <p:sp>
        <p:nvSpPr>
          <p:cNvPr id="8" name="claim-0">
            <a:extLst xmlns:a="http://schemas.openxmlformats.org/drawingml/2006/main">
              <a:ext uri="{FF2B5EF4-FFF2-40B4-BE49-F238E27FC236}">
                <a16:creationId xmlns:a16="http://schemas.microsoft.com/office/drawing/2014/main" id="{FBF896D7-9BFD-4DFE-B7A8-7453AF133CFB}"/>
              </a:ext>
            </a:extLst>
          </p:cNvPr>
          <p:cNvSpPr>
            <a:spLocks xmlns:a="http://schemas.openxmlformats.org/drawingml/2006/main" noGrp="1"/>
          </p:cNvSpPr>
          <p:nvPr/>
        </p:nvSpPr>
        <p:spPr>
          <a:xfrm xmlns:a="http://schemas.openxmlformats.org/drawingml/2006/main">
            <a:off x="581025" y="2514600"/>
            <a:ext cx="2381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1">
                <a:solidFill>
                  <a:srgbClr val="000000"/>
                </a:solidFill>
                <a:latin typeface="Helvetica Neue"/>
                <a:ea typeface="Helvetica Neue"/>
                <a:cs typeface="Helvetica Neue"/>
              </a:defRPr>
            </a:pPr>
            <a:r>
              <a:t>Information sensitivity</a:t>
            </a:r>
          </a:p>
        </p:txBody>
      </p:sp>
      <p:sp>
        <p:nvSpPr>
          <p:cNvPr id="9" name="answer-0">
            <a:extLst xmlns:a="http://schemas.openxmlformats.org/drawingml/2006/main">
              <a:ext uri="{FF2B5EF4-FFF2-40B4-BE49-F238E27FC236}">
                <a16:creationId xmlns:a16="http://schemas.microsoft.com/office/drawing/2014/main" id="{DF3B3CBA-65C8-40E8-84BE-E6A4CA35533C}"/>
              </a:ext>
            </a:extLst>
          </p:cNvPr>
          <p:cNvSpPr>
            <a:spLocks xmlns:a="http://schemas.openxmlformats.org/drawingml/2006/main" noGrp="1"/>
          </p:cNvSpPr>
          <p:nvPr/>
        </p:nvSpPr>
        <p:spPr>
          <a:xfrm xmlns:a="http://schemas.openxmlformats.org/drawingml/2006/main">
            <a:off x="3162300" y="2514600"/>
            <a:ext cx="41910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Does one model change rating as evidence is added?</a:t>
            </a:r>
          </a:p>
        </p:txBody>
      </p:sp>
      <p:sp>
        <p:nvSpPr>
          <p:cNvPr id="10" name="limit-0">
            <a:extLst xmlns:a="http://schemas.openxmlformats.org/drawingml/2006/main">
              <a:ext uri="{FF2B5EF4-FFF2-40B4-BE49-F238E27FC236}">
                <a16:creationId xmlns:a16="http://schemas.microsoft.com/office/drawing/2014/main" id="{243E4CBA-A966-4F76-BBFE-112EA061A73B}"/>
              </a:ext>
            </a:extLst>
          </p:cNvPr>
          <p:cNvSpPr>
            <a:spLocks xmlns:a="http://schemas.openxmlformats.org/drawingml/2006/main" noGrp="1"/>
          </p:cNvSpPr>
          <p:nvPr/>
        </p:nvSpPr>
        <p:spPr>
          <a:xfrm xmlns:a="http://schemas.openxmlformats.org/drawingml/2006/main">
            <a:off x="7639050" y="2514600"/>
            <a:ext cx="3905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That a changed label is superior judgment</a:t>
            </a:r>
          </a:p>
        </p:txBody>
      </p:sp>
      <p:sp>
        <p:nvSpPr>
          <p:cNvPr id="11" name="row-band-1">
            <a:extLst xmlns:a="http://schemas.openxmlformats.org/drawingml/2006/main">
              <a:ext uri="{FF2B5EF4-FFF2-40B4-BE49-F238E27FC236}">
                <a16:creationId xmlns:a16="http://schemas.microsoft.com/office/drawing/2014/main" id="{EC72CD1B-6EAC-4A0B-BBE4-2B54F2EC0D7E}"/>
              </a:ext>
            </a:extLst>
          </p:cNvPr>
          <p:cNvSpPr>
            <a:spLocks xmlns:a="http://schemas.openxmlformats.org/drawingml/2006/main" noGrp="1"/>
          </p:cNvSpPr>
          <p:nvPr/>
        </p:nvSpPr>
        <p:spPr>
          <a:xfrm xmlns:a="http://schemas.openxmlformats.org/drawingml/2006/main">
            <a:off x="393668" y="3181350"/>
            <a:ext cx="228600" cy="228600"/>
          </a:xfrm>
          <a:prstGeom xmlns:a="http://schemas.openxmlformats.org/drawingml/2006/main" prst="rect">
            <a:avLst/>
          </a:prstGeom>
          <a:solidFill xmlns:a="http://schemas.openxmlformats.org/drawingml/2006/main">
            <a:srgbClr val="FAFAFA"/>
          </a:solidFill>
        </p:spPr>
      </p:sp>
      <p:sp>
        <p:nvSpPr>
          <p:cNvPr id="12" name="row-rule-1">
            <a:extLst xmlns:a="http://schemas.openxmlformats.org/drawingml/2006/main">
              <a:ext uri="{FF2B5EF4-FFF2-40B4-BE49-F238E27FC236}">
                <a16:creationId xmlns:a16="http://schemas.microsoft.com/office/drawing/2014/main" id="{D548053F-352B-4ACF-9D62-D0C5737FE4D2}"/>
              </a:ext>
            </a:extLst>
          </p:cNvPr>
          <p:cNvSpPr>
            <a:spLocks xmlns:a="http://schemas.openxmlformats.org/drawingml/2006/main" noGrp="1"/>
          </p:cNvSpPr>
          <p:nvPr/>
        </p:nvSpPr>
        <p:spPr>
          <a:xfrm xmlns:a="http://schemas.openxmlformats.org/drawingml/2006/main">
            <a:off x="393668" y="3171825"/>
            <a:ext cx="228600" cy="228600"/>
          </a:xfrm>
          <a:prstGeom xmlns:a="http://schemas.openxmlformats.org/drawingml/2006/main" prst="rect">
            <a:avLst/>
          </a:prstGeom>
          <a:solidFill xmlns:a="http://schemas.openxmlformats.org/drawingml/2006/main">
            <a:srgbClr val="D8DCE2"/>
          </a:solidFill>
        </p:spPr>
      </p:sp>
      <p:sp>
        <p:nvSpPr>
          <p:cNvPr id="13" name="claim-1">
            <a:extLst xmlns:a="http://schemas.openxmlformats.org/drawingml/2006/main">
              <a:ext uri="{FF2B5EF4-FFF2-40B4-BE49-F238E27FC236}">
                <a16:creationId xmlns:a16="http://schemas.microsoft.com/office/drawing/2014/main" id="{A9C53831-8B68-49E3-8540-4089BCC97FC3}"/>
              </a:ext>
            </a:extLst>
          </p:cNvPr>
          <p:cNvSpPr>
            <a:spLocks xmlns:a="http://schemas.openxmlformats.org/drawingml/2006/main" noGrp="1"/>
          </p:cNvSpPr>
          <p:nvPr/>
        </p:nvSpPr>
        <p:spPr>
          <a:xfrm xmlns:a="http://schemas.openxmlformats.org/drawingml/2006/main">
            <a:off x="581025" y="3248025"/>
            <a:ext cx="2381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1">
                <a:solidFill>
                  <a:srgbClr val="000000"/>
                </a:solidFill>
                <a:latin typeface="Helvetica Neue"/>
                <a:ea typeface="Helvetica Neue"/>
                <a:cs typeface="Helvetica Neue"/>
              </a:defRPr>
            </a:pPr>
            <a:r>
              <a:t>Analyst agreement</a:t>
            </a:r>
          </a:p>
        </p:txBody>
      </p:sp>
      <p:sp>
        <p:nvSpPr>
          <p:cNvPr id="14" name="answer-1">
            <a:extLst xmlns:a="http://schemas.openxmlformats.org/drawingml/2006/main">
              <a:ext uri="{FF2B5EF4-FFF2-40B4-BE49-F238E27FC236}">
                <a16:creationId xmlns:a16="http://schemas.microsoft.com/office/drawing/2014/main" id="{17F2FDA1-EE3E-4899-8B77-35FA9F8D9F4E}"/>
              </a:ext>
            </a:extLst>
          </p:cNvPr>
          <p:cNvSpPr>
            <a:spLocks xmlns:a="http://schemas.openxmlformats.org/drawingml/2006/main" noGrp="1"/>
          </p:cNvSpPr>
          <p:nvPr/>
        </p:nvSpPr>
        <p:spPr>
          <a:xfrm xmlns:a="http://schemas.openxmlformats.org/drawingml/2006/main">
            <a:off x="3162300" y="3248025"/>
            <a:ext cx="41910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Exact match, direction, and ordinal gap</a:t>
            </a:r>
          </a:p>
        </p:txBody>
      </p:sp>
      <p:sp>
        <p:nvSpPr>
          <p:cNvPr id="15" name="limit-1">
            <a:extLst xmlns:a="http://schemas.openxmlformats.org/drawingml/2006/main">
              <a:ext uri="{FF2B5EF4-FFF2-40B4-BE49-F238E27FC236}">
                <a16:creationId xmlns:a16="http://schemas.microsoft.com/office/drawing/2014/main" id="{F1163692-0685-49BC-B400-AD22AACB623F}"/>
              </a:ext>
            </a:extLst>
          </p:cNvPr>
          <p:cNvSpPr>
            <a:spLocks xmlns:a="http://schemas.openxmlformats.org/drawingml/2006/main" noGrp="1"/>
          </p:cNvSpPr>
          <p:nvPr/>
        </p:nvSpPr>
        <p:spPr>
          <a:xfrm xmlns:a="http://schemas.openxmlformats.org/drawingml/2006/main">
            <a:off x="7639050" y="3248025"/>
            <a:ext cx="3905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Same reasoning from consensus counts alone</a:t>
            </a:r>
          </a:p>
        </p:txBody>
      </p:sp>
      <p:sp>
        <p:nvSpPr>
          <p:cNvPr id="16" name="row-rule-2">
            <a:extLst xmlns:a="http://schemas.openxmlformats.org/drawingml/2006/main">
              <a:ext uri="{FF2B5EF4-FFF2-40B4-BE49-F238E27FC236}">
                <a16:creationId xmlns:a16="http://schemas.microsoft.com/office/drawing/2014/main" id="{858BEFDD-C280-4BAB-A5E9-BA343596985C}"/>
              </a:ext>
            </a:extLst>
          </p:cNvPr>
          <p:cNvSpPr>
            <a:spLocks xmlns:a="http://schemas.openxmlformats.org/drawingml/2006/main" noGrp="1"/>
          </p:cNvSpPr>
          <p:nvPr/>
        </p:nvSpPr>
        <p:spPr>
          <a:xfrm xmlns:a="http://schemas.openxmlformats.org/drawingml/2006/main">
            <a:off x="393668" y="3905250"/>
            <a:ext cx="228600" cy="228600"/>
          </a:xfrm>
          <a:prstGeom xmlns:a="http://schemas.openxmlformats.org/drawingml/2006/main" prst="rect">
            <a:avLst/>
          </a:prstGeom>
          <a:solidFill xmlns:a="http://schemas.openxmlformats.org/drawingml/2006/main">
            <a:srgbClr val="D8DCE2"/>
          </a:solidFill>
        </p:spPr>
      </p:sp>
      <p:sp>
        <p:nvSpPr>
          <p:cNvPr id="17" name="claim-2">
            <a:extLst xmlns:a="http://schemas.openxmlformats.org/drawingml/2006/main">
              <a:ext uri="{FF2B5EF4-FFF2-40B4-BE49-F238E27FC236}">
                <a16:creationId xmlns:a16="http://schemas.microsoft.com/office/drawing/2014/main" id="{AF01E0A8-6EE7-47A7-80B8-28556DAFE097}"/>
              </a:ext>
            </a:extLst>
          </p:cNvPr>
          <p:cNvSpPr>
            <a:spLocks xmlns:a="http://schemas.openxmlformats.org/drawingml/2006/main" noGrp="1"/>
          </p:cNvSpPr>
          <p:nvPr/>
        </p:nvSpPr>
        <p:spPr>
          <a:xfrm xmlns:a="http://schemas.openxmlformats.org/drawingml/2006/main">
            <a:off x="581025" y="3981450"/>
            <a:ext cx="2381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1">
                <a:solidFill>
                  <a:srgbClr val="000000"/>
                </a:solidFill>
                <a:latin typeface="Helvetica Neue"/>
                <a:ea typeface="Helvetica Neue"/>
                <a:cs typeface="Helvetica Neue"/>
              </a:defRPr>
            </a:pPr>
            <a:r>
              <a:t>Independence</a:t>
            </a:r>
          </a:p>
        </p:txBody>
      </p:sp>
      <p:sp>
        <p:nvSpPr>
          <p:cNvPr id="18" name="answer-2">
            <a:extLst xmlns:a="http://schemas.openxmlformats.org/drawingml/2006/main">
              <a:ext uri="{FF2B5EF4-FFF2-40B4-BE49-F238E27FC236}">
                <a16:creationId xmlns:a16="http://schemas.microsoft.com/office/drawing/2014/main" id="{F3E8AE21-B13A-4EC6-8B44-40A72E398AA4}"/>
              </a:ext>
            </a:extLst>
          </p:cNvPr>
          <p:cNvSpPr>
            <a:spLocks xmlns:a="http://schemas.openxmlformats.org/drawingml/2006/main" noGrp="1"/>
          </p:cNvSpPr>
          <p:nvPr/>
        </p:nvSpPr>
        <p:spPr>
          <a:xfrm xmlns:a="http://schemas.openxmlformats.org/drawingml/2006/main">
            <a:off x="3162300" y="3981450"/>
            <a:ext cx="41910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Whether sources/flags show analyst exposure</a:t>
            </a:r>
          </a:p>
        </p:txBody>
      </p:sp>
      <p:sp>
        <p:nvSpPr>
          <p:cNvPr id="19" name="limit-2">
            <a:extLst xmlns:a="http://schemas.openxmlformats.org/drawingml/2006/main">
              <a:ext uri="{FF2B5EF4-FFF2-40B4-BE49-F238E27FC236}">
                <a16:creationId xmlns:a16="http://schemas.microsoft.com/office/drawing/2014/main" id="{8AB960AF-D9E9-45F2-86BB-105B963D4E5E}"/>
              </a:ext>
            </a:extLst>
          </p:cNvPr>
          <p:cNvSpPr>
            <a:spLocks xmlns:a="http://schemas.openxmlformats.org/drawingml/2006/main" noGrp="1"/>
          </p:cNvSpPr>
          <p:nvPr/>
        </p:nvSpPr>
        <p:spPr>
          <a:xfrm xmlns:a="http://schemas.openxmlformats.org/drawingml/2006/main">
            <a:off x="7639050" y="3981450"/>
            <a:ext cx="3905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Proof of independence from self-report alone</a:t>
            </a:r>
          </a:p>
        </p:txBody>
      </p:sp>
      <p:sp>
        <p:nvSpPr>
          <p:cNvPr id="20" name="row-band-3">
            <a:extLst xmlns:a="http://schemas.openxmlformats.org/drawingml/2006/main">
              <a:ext uri="{FF2B5EF4-FFF2-40B4-BE49-F238E27FC236}">
                <a16:creationId xmlns:a16="http://schemas.microsoft.com/office/drawing/2014/main" id="{1F5BB8A7-F80B-43D1-A4CF-611D4D892C17}"/>
              </a:ext>
            </a:extLst>
          </p:cNvPr>
          <p:cNvSpPr>
            <a:spLocks xmlns:a="http://schemas.openxmlformats.org/drawingml/2006/main" noGrp="1"/>
          </p:cNvSpPr>
          <p:nvPr/>
        </p:nvSpPr>
        <p:spPr>
          <a:xfrm xmlns:a="http://schemas.openxmlformats.org/drawingml/2006/main">
            <a:off x="393668" y="4648200"/>
            <a:ext cx="228600" cy="228600"/>
          </a:xfrm>
          <a:prstGeom xmlns:a="http://schemas.openxmlformats.org/drawingml/2006/main" prst="rect">
            <a:avLst/>
          </a:prstGeom>
          <a:solidFill xmlns:a="http://schemas.openxmlformats.org/drawingml/2006/main">
            <a:srgbClr val="FAFAFA"/>
          </a:solidFill>
        </p:spPr>
      </p:sp>
      <p:sp>
        <p:nvSpPr>
          <p:cNvPr id="21" name="row-rule-3">
            <a:extLst xmlns:a="http://schemas.openxmlformats.org/drawingml/2006/main">
              <a:ext uri="{FF2B5EF4-FFF2-40B4-BE49-F238E27FC236}">
                <a16:creationId xmlns:a16="http://schemas.microsoft.com/office/drawing/2014/main" id="{D3AD11EA-0519-4AD0-856E-4EA609E448C5}"/>
              </a:ext>
            </a:extLst>
          </p:cNvPr>
          <p:cNvSpPr>
            <a:spLocks xmlns:a="http://schemas.openxmlformats.org/drawingml/2006/main" noGrp="1"/>
          </p:cNvSpPr>
          <p:nvPr/>
        </p:nvSpPr>
        <p:spPr>
          <a:xfrm xmlns:a="http://schemas.openxmlformats.org/drawingml/2006/main">
            <a:off x="393668" y="4638675"/>
            <a:ext cx="228600" cy="228600"/>
          </a:xfrm>
          <a:prstGeom xmlns:a="http://schemas.openxmlformats.org/drawingml/2006/main" prst="rect">
            <a:avLst/>
          </a:prstGeom>
          <a:solidFill xmlns:a="http://schemas.openxmlformats.org/drawingml/2006/main">
            <a:srgbClr val="D8DCE2"/>
          </a:solidFill>
        </p:spPr>
      </p:sp>
      <p:sp>
        <p:nvSpPr>
          <p:cNvPr id="22" name="claim-3">
            <a:extLst xmlns:a="http://schemas.openxmlformats.org/drawingml/2006/main">
              <a:ext uri="{FF2B5EF4-FFF2-40B4-BE49-F238E27FC236}">
                <a16:creationId xmlns:a16="http://schemas.microsoft.com/office/drawing/2014/main" id="{6BF18D87-DF9A-4734-B046-0DB77C382926}"/>
              </a:ext>
            </a:extLst>
          </p:cNvPr>
          <p:cNvSpPr>
            <a:spLocks xmlns:a="http://schemas.openxmlformats.org/drawingml/2006/main" noGrp="1"/>
          </p:cNvSpPr>
          <p:nvPr/>
        </p:nvSpPr>
        <p:spPr>
          <a:xfrm xmlns:a="http://schemas.openxmlformats.org/drawingml/2006/main">
            <a:off x="581025" y="4714875"/>
            <a:ext cx="2381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1">
                <a:solidFill>
                  <a:srgbClr val="000000"/>
                </a:solidFill>
                <a:latin typeface="Helvetica Neue"/>
                <a:ea typeface="Helvetica Neue"/>
                <a:cs typeface="Helvetica Neue"/>
              </a:defRPr>
            </a:pPr>
            <a:r>
              <a:t>Outperformance</a:t>
            </a:r>
          </a:p>
        </p:txBody>
      </p:sp>
      <p:sp>
        <p:nvSpPr>
          <p:cNvPr id="23" name="answer-3">
            <a:extLst xmlns:a="http://schemas.openxmlformats.org/drawingml/2006/main">
              <a:ext uri="{FF2B5EF4-FFF2-40B4-BE49-F238E27FC236}">
                <a16:creationId xmlns:a16="http://schemas.microsoft.com/office/drawing/2014/main" id="{BD5DE13E-48DB-4AD5-A122-4D41C3D75F35}"/>
              </a:ext>
            </a:extLst>
          </p:cNvPr>
          <p:cNvSpPr>
            <a:spLocks xmlns:a="http://schemas.openxmlformats.org/drawingml/2006/main" noGrp="1"/>
          </p:cNvSpPr>
          <p:nvPr/>
        </p:nvSpPr>
        <p:spPr>
          <a:xfrm xmlns:a="http://schemas.openxmlformats.org/drawingml/2006/main">
            <a:off x="3162300" y="4714875"/>
            <a:ext cx="41910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Forward return after timestamped predictions</a:t>
            </a:r>
          </a:p>
        </p:txBody>
      </p:sp>
      <p:sp>
        <p:nvSpPr>
          <p:cNvPr id="24" name="limit-3">
            <a:extLst xmlns:a="http://schemas.openxmlformats.org/drawingml/2006/main">
              <a:ext uri="{FF2B5EF4-FFF2-40B4-BE49-F238E27FC236}">
                <a16:creationId xmlns:a16="http://schemas.microsoft.com/office/drawing/2014/main" id="{8340D841-DFBE-4C91-990E-6FFF6C298753}"/>
              </a:ext>
            </a:extLst>
          </p:cNvPr>
          <p:cNvSpPr>
            <a:spLocks xmlns:a="http://schemas.openxmlformats.org/drawingml/2006/main" noGrp="1"/>
          </p:cNvSpPr>
          <p:nvPr/>
        </p:nvSpPr>
        <p:spPr>
          <a:xfrm xmlns:a="http://schemas.openxmlformats.org/drawingml/2006/main">
            <a:off x="7639050" y="4714875"/>
            <a:ext cx="39052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0">
                <a:solidFill>
                  <a:srgbClr val="000000"/>
                </a:solidFill>
                <a:latin typeface="Helvetica Neue"/>
                <a:ea typeface="Helvetica Neue"/>
                <a:cs typeface="Helvetica Neue"/>
              </a:defRPr>
            </a:pPr>
            <a:r>
              <a:t>Performance from a dry run or today's backfilled model</a:t>
            </a:r>
          </a:p>
        </p:txBody>
      </p:sp>
      <p:sp>
        <p:nvSpPr>
          <p:cNvPr id="25" name="forward-strip">
            <a:extLst xmlns:a="http://schemas.openxmlformats.org/drawingml/2006/main">
              <a:ext uri="{FF2B5EF4-FFF2-40B4-BE49-F238E27FC236}">
                <a16:creationId xmlns:a16="http://schemas.microsoft.com/office/drawing/2014/main" id="{A45C79AF-345E-4FBE-AFDB-939A0C385E61}"/>
              </a:ext>
            </a:extLst>
          </p:cNvPr>
          <p:cNvSpPr>
            <a:spLocks xmlns:a="http://schemas.openxmlformats.org/drawingml/2006/main" noGrp="1"/>
          </p:cNvSpPr>
          <p:nvPr/>
        </p:nvSpPr>
        <p:spPr>
          <a:xfrm xmlns:a="http://schemas.openxmlformats.org/drawingml/2006/main">
            <a:off x="393668" y="5657850"/>
            <a:ext cx="228600" cy="228600"/>
          </a:xfrm>
          <a:prstGeom xmlns:a="http://schemas.openxmlformats.org/drawingml/2006/main" prst="roundRect">
            <a:avLst>
              <a:gd name="adj" fmla="val 33333"/>
            </a:avLst>
          </a:prstGeom>
          <a:solidFill xmlns:a="http://schemas.openxmlformats.org/drawingml/2006/main">
            <a:srgbClr val="DCEBFF"/>
          </a:solidFill>
        </p:spPr>
      </p:sp>
      <p:sp>
        <p:nvSpPr>
          <p:cNvPr id="26" name="forward-text">
            <a:extLst xmlns:a="http://schemas.openxmlformats.org/drawingml/2006/main">
              <a:ext uri="{FF2B5EF4-FFF2-40B4-BE49-F238E27FC236}">
                <a16:creationId xmlns:a16="http://schemas.microsoft.com/office/drawing/2014/main" id="{53A43C52-7AA0-4D10-A78E-731CB0E82078}"/>
              </a:ext>
            </a:extLst>
          </p:cNvPr>
          <p:cNvSpPr>
            <a:spLocks xmlns:a="http://schemas.openxmlformats.org/drawingml/2006/main" noGrp="1"/>
          </p:cNvSpPr>
          <p:nvPr/>
        </p:nvSpPr>
        <p:spPr>
          <a:xfrm xmlns:a="http://schemas.openxmlformats.org/drawingml/2006/main">
            <a:off x="619125" y="5800725"/>
            <a:ext cx="10858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456A0"/>
                </a:solidFill>
                <a:latin typeface="Helvetica Neue"/>
                <a:ea typeface="Helvetica Neue"/>
                <a:cs typeface="Helvetica Neue"/>
              </a:defRPr>
            </a:pPr>
            <a:r>
              <a:t>Defensible performance test: freeze predictions first → observe future returns → compare a preregistered portfolio with SPY</a:t>
            </a:r>
          </a:p>
        </p:txBody>
      </p:sp>
      <p:sp>
        <p:nvSpPr>
          <p:cNvPr id="27" name="source-6">
            <a:extLst xmlns:a="http://schemas.openxmlformats.org/drawingml/2006/main">
              <a:ext uri="{FF2B5EF4-FFF2-40B4-BE49-F238E27FC236}">
                <a16:creationId xmlns:a16="http://schemas.microsoft.com/office/drawing/2014/main" id="{7B19A786-4F2C-4FAD-AC0A-FFC91EE40F00}"/>
              </a:ext>
            </a:extLst>
          </p:cNvPr>
          <p:cNvSpPr>
            <a:spLocks xmlns:a="http://schemas.openxmlformats.org/drawingml/2006/main" noGrp="1"/>
          </p:cNvSpPr>
          <p:nvPr/>
        </p:nvSpPr>
        <p:spPr>
          <a:xfrm xmlns:a="http://schemas.openxmlformats.org/drawingml/2006/main">
            <a:off x="393668" y="6343650"/>
            <a:ext cx="1028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F6670"/>
                </a:solidFill>
                <a:latin typeface="Helvetica Neue"/>
                <a:ea typeface="Helvetica Neue"/>
                <a:cs typeface="Helvetica Neue"/>
              </a:defRPr>
            </a:pPr>
            <a:r>
              <a:t>Key risks: look-ahead leakage • model-version leakage • survivorship bias • report-licensing limits</a:t>
            </a:r>
          </a:p>
        </p:txBody>
      </p:sp>
      <p:sp>
        <p:nvSpPr>
          <p:cNvPr id="28" name="page-6">
            <a:extLst xmlns:a="http://schemas.openxmlformats.org/drawingml/2006/main">
              <a:ext uri="{FF2B5EF4-FFF2-40B4-BE49-F238E27FC236}">
                <a16:creationId xmlns:a16="http://schemas.microsoft.com/office/drawing/2014/main" id="{EC86AEBD-B45B-4E3E-9A2C-96E7B2B46DB0}"/>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t>6</a:t>
            </a:r>
          </a:p>
        </p:txBody>
      </p:sp>
    </p:spTree>
    <p:extLst>
      <p:ext uri="{BB962C8B-B14F-4D97-AF65-F5344CB8AC3E}">
        <p14:creationId xmlns:p14="http://schemas.microsoft.com/office/powerpoint/2010/main" val="116772401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close-accent">
            <a:extLst xmlns:a="http://schemas.openxmlformats.org/drawingml/2006/main">
              <a:ext uri="{FF2B5EF4-FFF2-40B4-BE49-F238E27FC236}">
                <a16:creationId xmlns:a16="http://schemas.microsoft.com/office/drawing/2014/main" id="{FF1EDA02-849E-4AFB-9926-DFA962630599}"/>
              </a:ext>
            </a:extLst>
          </p:cNvPr>
          <p:cNvSpPr>
            <a:spLocks xmlns:a="http://schemas.openxmlformats.org/drawingml/2006/main" noGrp="1"/>
          </p:cNvSpPr>
          <p:nvPr/>
        </p:nvSpPr>
        <p:spPr>
          <a:xfrm xmlns:a="http://schemas.openxmlformats.org/drawingml/2006/main">
            <a:off x="0" y="0"/>
            <a:ext cx="228600" cy="228600"/>
          </a:xfrm>
          <a:prstGeom xmlns:a="http://schemas.openxmlformats.org/drawingml/2006/main" prst="rect">
            <a:avLst/>
          </a:prstGeom>
          <a:solidFill xmlns:a="http://schemas.openxmlformats.org/drawingml/2006/main">
            <a:srgbClr val="3D8DFF"/>
          </a:solidFill>
        </p:spPr>
      </p:sp>
      <p:sp>
        <p:nvSpPr>
          <p:cNvPr id="2" name="close-eyebrow">
            <a:extLst xmlns:a="http://schemas.openxmlformats.org/drawingml/2006/main">
              <a:ext uri="{FF2B5EF4-FFF2-40B4-BE49-F238E27FC236}">
                <a16:creationId xmlns:a16="http://schemas.microsoft.com/office/drawing/2014/main" id="{54AFAA08-F577-41D3-9F70-A2804E408A10}"/>
              </a:ext>
            </a:extLst>
          </p:cNvPr>
          <p:cNvSpPr>
            <a:spLocks xmlns:a="http://schemas.openxmlformats.org/drawingml/2006/main" noGrp="1"/>
          </p:cNvSpPr>
          <p:nvPr/>
        </p:nvSpPr>
        <p:spPr>
          <a:xfrm xmlns:a="http://schemas.openxmlformats.org/drawingml/2006/main">
            <a:off x="495300" y="419100"/>
            <a:ext cx="3333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t>DECISION REQUEST</a:t>
            </a:r>
          </a:p>
        </p:txBody>
      </p:sp>
      <p:sp>
        <p:nvSpPr>
          <p:cNvPr id="3" name="close-title">
            <a:extLst xmlns:a="http://schemas.openxmlformats.org/drawingml/2006/main">
              <a:ext uri="{FF2B5EF4-FFF2-40B4-BE49-F238E27FC236}">
                <a16:creationId xmlns:a16="http://schemas.microsoft.com/office/drawing/2014/main" id="{5D650D85-904B-44CC-B207-5438FF061EFD}"/>
              </a:ext>
            </a:extLst>
          </p:cNvPr>
          <p:cNvSpPr>
            <a:spLocks xmlns:a="http://schemas.openxmlformats.org/drawingml/2006/main" noGrp="1"/>
          </p:cNvSpPr>
          <p:nvPr/>
        </p:nvSpPr>
        <p:spPr>
          <a:xfrm xmlns:a="http://schemas.openxmlformats.org/drawingml/2006/main">
            <a:off x="495300" y="1428750"/>
            <a:ext cx="7524750" cy="2857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4725" b="0">
                <a:solidFill>
                  <a:srgbClr val="000000"/>
                </a:solidFill>
                <a:latin typeface="Helvetica Neue"/>
                <a:ea typeface="Helvetica Neue"/>
                <a:cs typeface="Helvetica Neue"/>
              </a:defRPr>
            </a:pPr>
            <a:r>
              <a:t>Approve the protocol;
then we can generate
real evidence.</a:t>
            </a:r>
          </a:p>
        </p:txBody>
      </p:sp>
      <p:sp>
        <p:nvSpPr>
          <p:cNvPr id="4" name="action-1-num">
            <a:extLst xmlns:a="http://schemas.openxmlformats.org/drawingml/2006/main">
              <a:ext uri="{FF2B5EF4-FFF2-40B4-BE49-F238E27FC236}">
                <a16:creationId xmlns:a16="http://schemas.microsoft.com/office/drawing/2014/main" id="{514D4048-F79E-4853-8826-7E314EF71EED}"/>
              </a:ext>
            </a:extLst>
          </p:cNvPr>
          <p:cNvSpPr>
            <a:spLocks xmlns:a="http://schemas.openxmlformats.org/drawingml/2006/main" noGrp="1"/>
          </p:cNvSpPr>
          <p:nvPr/>
        </p:nvSpPr>
        <p:spPr>
          <a:xfrm xmlns:a="http://schemas.openxmlformats.org/drawingml/2006/main">
            <a:off x="8429625" y="1543050"/>
            <a:ext cx="381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t>1</a:t>
            </a:r>
          </a:p>
        </p:txBody>
      </p:sp>
      <p:sp>
        <p:nvSpPr>
          <p:cNvPr id="5" name="action-1">
            <a:extLst xmlns:a="http://schemas.openxmlformats.org/drawingml/2006/main">
              <a:ext uri="{FF2B5EF4-FFF2-40B4-BE49-F238E27FC236}">
                <a16:creationId xmlns:a16="http://schemas.microsoft.com/office/drawing/2014/main" id="{ECDEEACC-DE91-4814-82B3-9EA04F0E1ACD}"/>
              </a:ext>
            </a:extLst>
          </p:cNvPr>
          <p:cNvSpPr>
            <a:spLocks xmlns:a="http://schemas.openxmlformats.org/drawingml/2006/main" noGrp="1"/>
          </p:cNvSpPr>
          <p:nvPr/>
        </p:nvSpPr>
        <p:spPr>
          <a:xfrm xmlns:a="http://schemas.openxmlformats.org/drawingml/2006/main">
            <a:off x="9001125" y="1543050"/>
            <a:ext cx="2571750" cy="476250"/>
          </a:xfrm>
          <a:prstGeom xmlns:a="http://schemas.openxmlformats.org/drawingml/2006/main" prst="rect">
            <a:avLst/>
          </a:prstGeom>
        </p:spPr>
        <p:txBody>
          <a:bodyPr xmlns:a="http://schemas.openxmlformats.org/drawingml/2006/main" lIns="0" tIns="0" rIns="0" bIns="0" anchor="t">
            <a:normAutofit fontScale="94697"/>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Provide OpenAI + FMP keys</a:t>
            </a:r>
          </a:p>
        </p:txBody>
      </p:sp>
      <p:sp>
        <p:nvSpPr>
          <p:cNvPr id="6" name="action-2-num">
            <a:extLst xmlns:a="http://schemas.openxmlformats.org/drawingml/2006/main">
              <a:ext uri="{FF2B5EF4-FFF2-40B4-BE49-F238E27FC236}">
                <a16:creationId xmlns:a16="http://schemas.microsoft.com/office/drawing/2014/main" id="{185DD953-D211-47DE-930B-1D39FA21E9E3}"/>
              </a:ext>
            </a:extLst>
          </p:cNvPr>
          <p:cNvSpPr>
            <a:spLocks xmlns:a="http://schemas.openxmlformats.org/drawingml/2006/main" noGrp="1"/>
          </p:cNvSpPr>
          <p:nvPr/>
        </p:nvSpPr>
        <p:spPr>
          <a:xfrm xmlns:a="http://schemas.openxmlformats.org/drawingml/2006/main">
            <a:off x="8429625" y="2543175"/>
            <a:ext cx="381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t>2</a:t>
            </a:r>
          </a:p>
        </p:txBody>
      </p:sp>
      <p:sp>
        <p:nvSpPr>
          <p:cNvPr id="7" name="action-2">
            <a:extLst xmlns:a="http://schemas.openxmlformats.org/drawingml/2006/main">
              <a:ext uri="{FF2B5EF4-FFF2-40B4-BE49-F238E27FC236}">
                <a16:creationId xmlns:a16="http://schemas.microsoft.com/office/drawing/2014/main" id="{489D6426-9ECE-4DA6-8F46-31080557115C}"/>
              </a:ext>
            </a:extLst>
          </p:cNvPr>
          <p:cNvSpPr>
            <a:spLocks xmlns:a="http://schemas.openxmlformats.org/drawingml/2006/main" noGrp="1"/>
          </p:cNvSpPr>
          <p:nvPr/>
        </p:nvSpPr>
        <p:spPr>
          <a:xfrm xmlns:a="http://schemas.openxmlformats.org/drawingml/2006/main">
            <a:off x="9001125" y="2543175"/>
            <a:ext cx="2619375"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Authorize 72-call live pilot</a:t>
            </a:r>
          </a:p>
        </p:txBody>
      </p:sp>
      <p:sp>
        <p:nvSpPr>
          <p:cNvPr id="8" name="action-3-num">
            <a:extLst xmlns:a="http://schemas.openxmlformats.org/drawingml/2006/main">
              <a:ext uri="{FF2B5EF4-FFF2-40B4-BE49-F238E27FC236}">
                <a16:creationId xmlns:a16="http://schemas.microsoft.com/office/drawing/2014/main" id="{A8F1E95C-DD74-460C-92AD-0EFB4F009859}"/>
              </a:ext>
            </a:extLst>
          </p:cNvPr>
          <p:cNvSpPr>
            <a:spLocks xmlns:a="http://schemas.openxmlformats.org/drawingml/2006/main" noGrp="1"/>
          </p:cNvSpPr>
          <p:nvPr/>
        </p:nvSpPr>
        <p:spPr>
          <a:xfrm xmlns:a="http://schemas.openxmlformats.org/drawingml/2006/main">
            <a:off x="8429625" y="3638550"/>
            <a:ext cx="381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t>3</a:t>
            </a:r>
          </a:p>
        </p:txBody>
      </p:sp>
      <p:sp>
        <p:nvSpPr>
          <p:cNvPr id="9" name="action-3">
            <a:extLst xmlns:a="http://schemas.openxmlformats.org/drawingml/2006/main">
              <a:ext uri="{FF2B5EF4-FFF2-40B4-BE49-F238E27FC236}">
                <a16:creationId xmlns:a16="http://schemas.microsoft.com/office/drawing/2014/main" id="{E3832439-B806-4144-89C3-7AC43F019C01}"/>
              </a:ext>
            </a:extLst>
          </p:cNvPr>
          <p:cNvSpPr>
            <a:spLocks xmlns:a="http://schemas.openxmlformats.org/drawingml/2006/main" noGrp="1"/>
          </p:cNvSpPr>
          <p:nvPr/>
        </p:nvSpPr>
        <p:spPr>
          <a:xfrm xmlns:a="http://schemas.openxmlformats.org/drawingml/2006/main">
            <a:off x="9001125" y="3638550"/>
            <a:ext cx="25717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Choose 1 vs 3 full-run repeats</a:t>
            </a:r>
          </a:p>
        </p:txBody>
      </p:sp>
      <p:sp>
        <p:nvSpPr>
          <p:cNvPr id="10" name="next-strip">
            <a:extLst xmlns:a="http://schemas.openxmlformats.org/drawingml/2006/main">
              <a:ext uri="{FF2B5EF4-FFF2-40B4-BE49-F238E27FC236}">
                <a16:creationId xmlns:a16="http://schemas.microsoft.com/office/drawing/2014/main" id="{66B0AFF4-9A56-4158-AACF-AEA04512E0A2}"/>
              </a:ext>
            </a:extLst>
          </p:cNvPr>
          <p:cNvSpPr>
            <a:spLocks xmlns:a="http://schemas.openxmlformats.org/drawingml/2006/main" noGrp="1"/>
          </p:cNvSpPr>
          <p:nvPr/>
        </p:nvSpPr>
        <p:spPr>
          <a:xfrm xmlns:a="http://schemas.openxmlformats.org/drawingml/2006/main">
            <a:off x="495300" y="5391150"/>
            <a:ext cx="228600" cy="228600"/>
          </a:xfrm>
          <a:prstGeom xmlns:a="http://schemas.openxmlformats.org/drawingml/2006/main" prst="roundRect">
            <a:avLst>
              <a:gd name="adj" fmla="val 33333"/>
            </a:avLst>
          </a:prstGeom>
          <a:solidFill xmlns:a="http://schemas.openxmlformats.org/drawingml/2006/main">
            <a:srgbClr val="F2F2F2"/>
          </a:solidFill>
        </p:spPr>
      </p:sp>
      <p:sp>
        <p:nvSpPr>
          <p:cNvPr id="11" name="next-label">
            <a:extLst xmlns:a="http://schemas.openxmlformats.org/drawingml/2006/main">
              <a:ext uri="{FF2B5EF4-FFF2-40B4-BE49-F238E27FC236}">
                <a16:creationId xmlns:a16="http://schemas.microsoft.com/office/drawing/2014/main" id="{41960A5D-6DEC-4E4E-B8E1-D8DC68078C25}"/>
              </a:ext>
            </a:extLst>
          </p:cNvPr>
          <p:cNvSpPr>
            <a:spLocks xmlns:a="http://schemas.openxmlformats.org/drawingml/2006/main" noGrp="1"/>
          </p:cNvSpPr>
          <p:nvPr/>
        </p:nvSpPr>
        <p:spPr>
          <a:xfrm xmlns:a="http://schemas.openxmlformats.org/drawingml/2006/main">
            <a:off x="742950" y="5619750"/>
            <a:ext cx="85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t>NEXT</a:t>
            </a:r>
          </a:p>
        </p:txBody>
      </p:sp>
      <p:sp>
        <p:nvSpPr>
          <p:cNvPr id="12" name="next-text">
            <a:extLst xmlns:a="http://schemas.openxmlformats.org/drawingml/2006/main">
              <a:ext uri="{FF2B5EF4-FFF2-40B4-BE49-F238E27FC236}">
                <a16:creationId xmlns:a16="http://schemas.microsoft.com/office/drawing/2014/main" id="{8476D728-9FAE-402A-A654-746F24526583}"/>
              </a:ext>
            </a:extLst>
          </p:cNvPr>
          <p:cNvSpPr>
            <a:spLocks xmlns:a="http://schemas.openxmlformats.org/drawingml/2006/main" noGrp="1"/>
          </p:cNvSpPr>
          <p:nvPr/>
        </p:nvSpPr>
        <p:spPr>
          <a:xfrm xmlns:a="http://schemas.openxmlformats.org/drawingml/2006/main">
            <a:off x="1638300" y="5572125"/>
            <a:ext cx="95250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t>freeze protocol  →  full universe  →  forward AI portfolio vs SPY</a:t>
            </a:r>
          </a:p>
        </p:txBody>
      </p:sp>
    </p:spTree>
    <p:extLst>
      <p:ext uri="{BB962C8B-B14F-4D97-AF65-F5344CB8AC3E}">
        <p14:creationId xmlns:p14="http://schemas.microsoft.com/office/powerpoint/2010/main" val="1781339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2026-07-17T15:12:08.1340000Z</dcterms:created>
  <dcterms:modified xsi:type="dcterms:W3CDTF">2026-07-17T15:12:08.1340000Z</dcterms:modified>
</coreProperties>
</file>